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Overpass" panose="020B0604020202020204" charset="0"/>
      <p:regular r:id="rId14"/>
      <p:bold r:id="rId15"/>
      <p:italic r:id="rId16"/>
      <p:boldItalic r:id="rId17"/>
    </p:embeddedFont>
    <p:embeddedFont>
      <p:font typeface="Overpass Light" panose="020B0604020202020204" charset="0"/>
      <p:regular r:id="rId18"/>
      <p:bold r:id="rId19"/>
      <p:italic r:id="rId20"/>
      <p:boldItalic r:id="rId21"/>
    </p:embeddedFont>
    <p:embeddedFont>
      <p:font typeface="Syne" panose="020B0604020202020204" charset="0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Ambulo: Your Personalized Hiking Companion</a:t>
            </a:r>
            <a:endParaRPr sz="4450" b="0" i="0" u="none" strike="noStrike" cap="none"/>
          </a:p>
        </p:txBody>
      </p:sp>
      <p:sp>
        <p:nvSpPr>
          <p:cNvPr id="62" name="Google Shape;62;p14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b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</a:br>
            <a:r>
              <a:rPr lang="en-US" sz="1750" b="1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Shai Odeni </a:t>
            </a:r>
            <a:b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</a:br>
            <a:r>
              <a:rPr lang="en-US" sz="1750" b="1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Daniel Betzalel</a:t>
            </a:r>
            <a:b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</a:br>
            <a:endParaRPr sz="17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793790" y="1634133"/>
            <a:ext cx="11103173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The Pain Points of Traditional Hiking</a:t>
            </a:r>
            <a:endParaRPr sz="4450" b="0" i="0" u="none" strike="noStrike" cap="none"/>
          </a:p>
        </p:txBody>
      </p:sp>
      <p:sp>
        <p:nvSpPr>
          <p:cNvPr id="69" name="Google Shape;69;p15"/>
          <p:cNvSpPr/>
          <p:nvPr/>
        </p:nvSpPr>
        <p:spPr>
          <a:xfrm>
            <a:off x="793790" y="279654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70" name="Google Shape;70;p15"/>
          <p:cNvSpPr/>
          <p:nvPr/>
        </p:nvSpPr>
        <p:spPr>
          <a:xfrm>
            <a:off x="793790" y="3641407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Time-Consuming Planning</a:t>
            </a:r>
            <a:endParaRPr sz="2200" b="0" i="0" u="none" strike="noStrike" cap="none"/>
          </a:p>
        </p:txBody>
      </p:sp>
      <p:sp>
        <p:nvSpPr>
          <p:cNvPr id="71" name="Google Shape;71;p15"/>
          <p:cNvSpPr/>
          <p:nvPr/>
        </p:nvSpPr>
        <p:spPr>
          <a:xfrm>
            <a:off x="793790" y="4576882"/>
            <a:ext cx="2845594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Trip planning is difficult, requiring multiple unreliable sources and word-of-mouth recommendations.</a:t>
            </a:r>
            <a:endParaRPr sz="1750" b="0" i="0" u="none" strike="noStrike" cap="none"/>
          </a:p>
        </p:txBody>
      </p:sp>
      <p:sp>
        <p:nvSpPr>
          <p:cNvPr id="72" name="Google Shape;72;p15"/>
          <p:cNvSpPr/>
          <p:nvPr/>
        </p:nvSpPr>
        <p:spPr>
          <a:xfrm>
            <a:off x="4200406" y="3641407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Unforeseen Trail Issues</a:t>
            </a:r>
            <a:endParaRPr sz="2200" b="0" i="0" u="none" strike="noStrike" cap="none"/>
          </a:p>
        </p:txBody>
      </p:sp>
      <p:sp>
        <p:nvSpPr>
          <p:cNvPr id="73" name="Google Shape;73;p15"/>
          <p:cNvSpPr/>
          <p:nvPr/>
        </p:nvSpPr>
        <p:spPr>
          <a:xfrm>
            <a:off x="4200406" y="4576882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Hikers face obstacles like hazardous terrain, overgrown vegetation, or dangerous water crossings and rockslides. </a:t>
            </a:r>
            <a:endParaRPr sz="1750" b="0" i="0" u="none" strike="noStrike" cap="none"/>
          </a:p>
        </p:txBody>
      </p:sp>
      <p:sp>
        <p:nvSpPr>
          <p:cNvPr id="74" name="Google Shape;74;p15"/>
          <p:cNvSpPr/>
          <p:nvPr/>
        </p:nvSpPr>
        <p:spPr>
          <a:xfrm>
            <a:off x="7607022" y="3641407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Equipment Hassles</a:t>
            </a:r>
            <a:endParaRPr sz="2200" b="0" i="0" u="none" strike="noStrike" cap="none"/>
          </a:p>
        </p:txBody>
      </p:sp>
      <p:sp>
        <p:nvSpPr>
          <p:cNvPr id="75" name="Google Shape;75;p15"/>
          <p:cNvSpPr/>
          <p:nvPr/>
        </p:nvSpPr>
        <p:spPr>
          <a:xfrm>
            <a:off x="7607022" y="4576882"/>
            <a:ext cx="284559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Organizing gear is tricky, leading to forgotten essentials or overpacking.</a:t>
            </a:r>
            <a:endParaRPr sz="1750" b="0" i="0" u="none" strike="noStrike" cap="none"/>
          </a:p>
        </p:txBody>
      </p:sp>
      <p:sp>
        <p:nvSpPr>
          <p:cNvPr id="76" name="Google Shape;76;p15"/>
          <p:cNvSpPr/>
          <p:nvPr/>
        </p:nvSpPr>
        <p:spPr>
          <a:xfrm>
            <a:off x="11013638" y="3641407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Navigation and Weather</a:t>
            </a:r>
            <a:endParaRPr sz="2200" b="0" i="0" u="none" strike="noStrike" cap="none"/>
          </a:p>
        </p:txBody>
      </p:sp>
      <p:sp>
        <p:nvSpPr>
          <p:cNvPr id="77" name="Google Shape;77;p15"/>
          <p:cNvSpPr/>
          <p:nvPr/>
        </p:nvSpPr>
        <p:spPr>
          <a:xfrm>
            <a:off x="11013638" y="4576882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Navigating trails and dealing with sudden weather changes make hikes stressful and less enjoyable.</a:t>
            </a:r>
            <a:endParaRPr sz="1750" b="0" i="0" u="none" strike="noStrike" cap="none"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75" y="7705720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793790" y="81188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Matching Algorithms: The Power of Personalization</a:t>
            </a:r>
            <a:endParaRPr sz="4450" b="0" i="0" u="none" strike="noStrike" cap="none"/>
          </a:p>
        </p:txBody>
      </p:sp>
      <p:sp>
        <p:nvSpPr>
          <p:cNvPr id="86" name="Google Shape;86;p16"/>
          <p:cNvSpPr/>
          <p:nvPr/>
        </p:nvSpPr>
        <p:spPr>
          <a:xfrm>
            <a:off x="793790" y="35335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9525" cap="flat" cmpd="sng">
            <a:solidFill>
              <a:srgbClr val="C3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982504" y="3618548"/>
            <a:ext cx="132755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650"/>
              <a:buFont typeface="Syne"/>
              <a:buNone/>
            </a:pPr>
            <a:r>
              <a:rPr lang="en-US" sz="2650" b="1" i="0" u="none" strike="noStrike" cap="non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sz="2650" b="0" i="0" u="none" strike="noStrike" cap="none"/>
          </a:p>
        </p:txBody>
      </p:sp>
      <p:sp>
        <p:nvSpPr>
          <p:cNvPr id="88" name="Google Shape;88;p16"/>
          <p:cNvSpPr/>
          <p:nvPr/>
        </p:nvSpPr>
        <p:spPr>
          <a:xfrm>
            <a:off x="1530906" y="3533537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Collaborative Filtering</a:t>
            </a:r>
            <a:endParaRPr sz="2200" b="0" i="0" u="none" strike="noStrike" cap="none"/>
          </a:p>
        </p:txBody>
      </p:sp>
      <p:sp>
        <p:nvSpPr>
          <p:cNvPr id="89" name="Google Shape;89;p16"/>
          <p:cNvSpPr/>
          <p:nvPr/>
        </p:nvSpPr>
        <p:spPr>
          <a:xfrm>
            <a:off x="1530906" y="4378285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User-Based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: Finds other users with similar hiking preferences and suggests routes they liked.</a:t>
            </a:r>
            <a:endParaRPr sz="1750" b="0" i="0" u="none" strike="noStrike" cap="none"/>
          </a:p>
        </p:txBody>
      </p:sp>
      <p:sp>
        <p:nvSpPr>
          <p:cNvPr id="90" name="Google Shape;90;p16"/>
          <p:cNvSpPr/>
          <p:nvPr/>
        </p:nvSpPr>
        <p:spPr>
          <a:xfrm>
            <a:off x="1530906" y="5965984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Item-Based: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Compares routes the user has enjoyed and recommends similar ones.</a:t>
            </a:r>
            <a:endParaRPr sz="1750" b="0" i="0" u="none" strike="noStrike" cap="none"/>
          </a:p>
        </p:txBody>
      </p:sp>
      <p:sp>
        <p:nvSpPr>
          <p:cNvPr id="91" name="Google Shape;91;p16"/>
          <p:cNvSpPr/>
          <p:nvPr/>
        </p:nvSpPr>
        <p:spPr>
          <a:xfrm>
            <a:off x="4685467" y="35335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9525" cap="flat" cmpd="sng">
            <a:solidFill>
              <a:srgbClr val="C3D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4834414" y="3618548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650"/>
              <a:buFont typeface="Syne"/>
              <a:buNone/>
            </a:pPr>
            <a:r>
              <a:rPr lang="en-US" sz="2650" b="1" i="0" u="none" strike="noStrike" cap="non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sz="2650" b="0" i="0" u="none" strike="noStrike" cap="none"/>
          </a:p>
        </p:txBody>
      </p:sp>
      <p:sp>
        <p:nvSpPr>
          <p:cNvPr id="93" name="Google Shape;93;p16"/>
          <p:cNvSpPr/>
          <p:nvPr/>
        </p:nvSpPr>
        <p:spPr>
          <a:xfrm>
            <a:off x="5422583" y="3533537"/>
            <a:ext cx="2927747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lang="en-US" sz="2200" b="1" i="0" u="none" strike="noStrike" cap="non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Content-Based Filtering</a:t>
            </a:r>
            <a:endParaRPr sz="220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5422583" y="4378285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Routes-Based: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Analyzes route attributes like difficulty, length, terrain, and points of interest.</a:t>
            </a:r>
            <a:endParaRPr sz="1750" b="0" i="0" u="none" strike="noStrike" cap="none"/>
          </a:p>
        </p:txBody>
      </p:sp>
      <p:sp>
        <p:nvSpPr>
          <p:cNvPr id="95" name="Google Shape;95;p16"/>
          <p:cNvSpPr/>
          <p:nvPr/>
        </p:nvSpPr>
        <p:spPr>
          <a:xfrm>
            <a:off x="5422583" y="5965984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Users-Based:</a:t>
            </a:r>
            <a:r>
              <a:rPr lang="en-US" sz="1750" b="1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Builds a user profile based on preferences and past hikes.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732115" y="575191"/>
            <a:ext cx="5229939" cy="653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100"/>
              <a:buFont typeface="Syne"/>
              <a:buNone/>
            </a:pPr>
            <a:r>
              <a:rPr lang="en-US" sz="41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Competitors</a:t>
            </a:r>
            <a:endParaRPr sz="4100" b="0" i="0" u="none" strike="noStrike" cap="none"/>
          </a:p>
        </p:txBody>
      </p:sp>
      <p:sp>
        <p:nvSpPr>
          <p:cNvPr id="102" name="Google Shape;102;p17"/>
          <p:cNvSpPr/>
          <p:nvPr/>
        </p:nvSpPr>
        <p:spPr>
          <a:xfrm>
            <a:off x="732115" y="1542693"/>
            <a:ext cx="13166169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/>
          </a:p>
        </p:txBody>
      </p:sp>
      <p:sp>
        <p:nvSpPr>
          <p:cNvPr id="103" name="Google Shape;103;p17"/>
          <p:cNvSpPr/>
          <p:nvPr/>
        </p:nvSpPr>
        <p:spPr>
          <a:xfrm>
            <a:off x="732115" y="2112645"/>
            <a:ext cx="13166169" cy="5552480"/>
          </a:xfrm>
          <a:prstGeom prst="roundRect">
            <a:avLst>
              <a:gd name="adj" fmla="val 1582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39735" y="2120265"/>
            <a:ext cx="13150929" cy="59305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949404" y="2253377"/>
            <a:ext cx="220789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050"/>
              <a:buFont typeface="Syne"/>
              <a:buNone/>
            </a:pPr>
            <a:r>
              <a:rPr lang="en-US" sz="20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Parameter</a:t>
            </a:r>
            <a:endParaRPr sz="2050" b="0" i="0" u="none" strike="noStrike" cap="none"/>
          </a:p>
        </p:txBody>
      </p:sp>
      <p:sp>
        <p:nvSpPr>
          <p:cNvPr id="106" name="Google Shape;106;p17"/>
          <p:cNvSpPr/>
          <p:nvPr/>
        </p:nvSpPr>
        <p:spPr>
          <a:xfrm>
            <a:off x="3583305" y="2253377"/>
            <a:ext cx="220408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050"/>
              <a:buFont typeface="Syne"/>
              <a:buNone/>
            </a:pPr>
            <a:r>
              <a:rPr lang="en-US" sz="20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Ambulo</a:t>
            </a:r>
            <a:endParaRPr sz="2050" b="0" i="0" u="none" strike="noStrike" cap="none"/>
          </a:p>
        </p:txBody>
      </p:sp>
      <p:sp>
        <p:nvSpPr>
          <p:cNvPr id="107" name="Google Shape;107;p17"/>
          <p:cNvSpPr/>
          <p:nvPr/>
        </p:nvSpPr>
        <p:spPr>
          <a:xfrm>
            <a:off x="6213396" y="2253377"/>
            <a:ext cx="220408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050"/>
              <a:buFont typeface="Syne"/>
              <a:buNone/>
            </a:pPr>
            <a:r>
              <a:rPr lang="en-US" sz="20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Off Road</a:t>
            </a:r>
            <a:endParaRPr sz="2050" b="0" i="0" u="none" strike="noStrike" cap="none"/>
          </a:p>
        </p:txBody>
      </p:sp>
      <p:sp>
        <p:nvSpPr>
          <p:cNvPr id="108" name="Google Shape;108;p17"/>
          <p:cNvSpPr/>
          <p:nvPr/>
        </p:nvSpPr>
        <p:spPr>
          <a:xfrm>
            <a:off x="8843486" y="2253377"/>
            <a:ext cx="220408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050"/>
              <a:buFont typeface="Syne"/>
              <a:buNone/>
            </a:pPr>
            <a:r>
              <a:rPr lang="en-US" sz="20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Komoot</a:t>
            </a:r>
            <a:endParaRPr sz="2050" b="0" i="0" u="none" strike="noStrike" cap="none"/>
          </a:p>
        </p:txBody>
      </p:sp>
      <p:sp>
        <p:nvSpPr>
          <p:cNvPr id="109" name="Google Shape;109;p17"/>
          <p:cNvSpPr/>
          <p:nvPr/>
        </p:nvSpPr>
        <p:spPr>
          <a:xfrm>
            <a:off x="11473577" y="2253377"/>
            <a:ext cx="2207895" cy="32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050"/>
              <a:buFont typeface="Syne"/>
              <a:buNone/>
            </a:pPr>
            <a:r>
              <a:rPr lang="en-US" sz="20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AllTrails</a:t>
            </a:r>
            <a:endParaRPr sz="2050" b="0" i="0" u="none" strike="noStrike" cap="none"/>
          </a:p>
        </p:txBody>
      </p:sp>
      <p:sp>
        <p:nvSpPr>
          <p:cNvPr id="110" name="Google Shape;110;p17"/>
          <p:cNvSpPr/>
          <p:nvPr/>
        </p:nvSpPr>
        <p:spPr>
          <a:xfrm>
            <a:off x="739735" y="2713315"/>
            <a:ext cx="13150929" cy="93559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949404" y="2846427"/>
            <a:ext cx="220789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Live alerts for complex points</a:t>
            </a:r>
            <a:endParaRPr sz="1600" b="0" i="0" u="none" strike="noStrike" cap="none"/>
          </a:p>
        </p:txBody>
      </p:sp>
      <p:sp>
        <p:nvSpPr>
          <p:cNvPr id="112" name="Google Shape;112;p17"/>
          <p:cNvSpPr/>
          <p:nvPr/>
        </p:nvSpPr>
        <p:spPr>
          <a:xfrm>
            <a:off x="3583305" y="284642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13" name="Google Shape;113;p17"/>
          <p:cNvSpPr/>
          <p:nvPr/>
        </p:nvSpPr>
        <p:spPr>
          <a:xfrm>
            <a:off x="6213396" y="284642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14" name="Google Shape;114;p17"/>
          <p:cNvSpPr/>
          <p:nvPr/>
        </p:nvSpPr>
        <p:spPr>
          <a:xfrm>
            <a:off x="8843486" y="284642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15" name="Google Shape;115;p17"/>
          <p:cNvSpPr/>
          <p:nvPr/>
        </p:nvSpPr>
        <p:spPr>
          <a:xfrm>
            <a:off x="11473577" y="2846427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16" name="Google Shape;116;p17"/>
          <p:cNvSpPr/>
          <p:nvPr/>
        </p:nvSpPr>
        <p:spPr>
          <a:xfrm>
            <a:off x="739735" y="3648908"/>
            <a:ext cx="13150929" cy="93559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949404" y="3782020"/>
            <a:ext cx="220789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Customized equipment lists</a:t>
            </a:r>
            <a:endParaRPr sz="1600" b="0" i="0" u="none" strike="noStrike" cap="none"/>
          </a:p>
        </p:txBody>
      </p:sp>
      <p:sp>
        <p:nvSpPr>
          <p:cNvPr id="118" name="Google Shape;118;p17"/>
          <p:cNvSpPr/>
          <p:nvPr/>
        </p:nvSpPr>
        <p:spPr>
          <a:xfrm>
            <a:off x="3583305" y="3782020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19" name="Google Shape;119;p17"/>
          <p:cNvSpPr/>
          <p:nvPr/>
        </p:nvSpPr>
        <p:spPr>
          <a:xfrm>
            <a:off x="6213396" y="3782020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20" name="Google Shape;120;p17"/>
          <p:cNvSpPr/>
          <p:nvPr/>
        </p:nvSpPr>
        <p:spPr>
          <a:xfrm>
            <a:off x="8843486" y="3782020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21" name="Google Shape;121;p17"/>
          <p:cNvSpPr/>
          <p:nvPr/>
        </p:nvSpPr>
        <p:spPr>
          <a:xfrm>
            <a:off x="11473577" y="3782020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22" name="Google Shape;122;p17"/>
          <p:cNvSpPr/>
          <p:nvPr/>
        </p:nvSpPr>
        <p:spPr>
          <a:xfrm>
            <a:off x="739735" y="4584502"/>
            <a:ext cx="13150929" cy="93559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949404" y="4717613"/>
            <a:ext cx="220789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Official routes (not by the community)</a:t>
            </a:r>
            <a:endParaRPr sz="1600" b="0" i="0" u="none" strike="noStrike" cap="none"/>
          </a:p>
        </p:txBody>
      </p:sp>
      <p:sp>
        <p:nvSpPr>
          <p:cNvPr id="124" name="Google Shape;124;p17"/>
          <p:cNvSpPr/>
          <p:nvPr/>
        </p:nvSpPr>
        <p:spPr>
          <a:xfrm>
            <a:off x="3583305" y="4717613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25" name="Google Shape;125;p17"/>
          <p:cNvSpPr/>
          <p:nvPr/>
        </p:nvSpPr>
        <p:spPr>
          <a:xfrm>
            <a:off x="6213396" y="4717613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26" name="Google Shape;126;p17"/>
          <p:cNvSpPr/>
          <p:nvPr/>
        </p:nvSpPr>
        <p:spPr>
          <a:xfrm>
            <a:off x="8843486" y="4717613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27" name="Google Shape;127;p17"/>
          <p:cNvSpPr/>
          <p:nvPr/>
        </p:nvSpPr>
        <p:spPr>
          <a:xfrm>
            <a:off x="11473577" y="4717613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28" name="Google Shape;128;p17"/>
          <p:cNvSpPr/>
          <p:nvPr/>
        </p:nvSpPr>
        <p:spPr>
          <a:xfrm>
            <a:off x="739735" y="5520095"/>
            <a:ext cx="13150929" cy="60090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949404" y="5653207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Variety of map types</a:t>
            </a:r>
            <a:endParaRPr sz="1600" b="0" i="0" u="none" strike="noStrike" cap="none"/>
          </a:p>
        </p:txBody>
      </p:sp>
      <p:sp>
        <p:nvSpPr>
          <p:cNvPr id="130" name="Google Shape;130;p17"/>
          <p:cNvSpPr/>
          <p:nvPr/>
        </p:nvSpPr>
        <p:spPr>
          <a:xfrm>
            <a:off x="3583305" y="565320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31" name="Google Shape;131;p17"/>
          <p:cNvSpPr/>
          <p:nvPr/>
        </p:nvSpPr>
        <p:spPr>
          <a:xfrm>
            <a:off x="6213396" y="565320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8843486" y="5653207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11473577" y="5653207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34" name="Google Shape;134;p17"/>
          <p:cNvSpPr/>
          <p:nvPr/>
        </p:nvSpPr>
        <p:spPr>
          <a:xfrm>
            <a:off x="739735" y="6121003"/>
            <a:ext cx="13150929" cy="60090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949404" y="6254115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User levels </a:t>
            </a:r>
            <a:endParaRPr sz="1600" b="0" i="0" u="none" strike="noStrike" cap="none"/>
          </a:p>
        </p:txBody>
      </p:sp>
      <p:sp>
        <p:nvSpPr>
          <p:cNvPr id="136" name="Google Shape;136;p17"/>
          <p:cNvSpPr/>
          <p:nvPr/>
        </p:nvSpPr>
        <p:spPr>
          <a:xfrm>
            <a:off x="3583305" y="6254115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37" name="Google Shape;137;p17"/>
          <p:cNvSpPr/>
          <p:nvPr/>
        </p:nvSpPr>
        <p:spPr>
          <a:xfrm>
            <a:off x="6213396" y="6254115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38" name="Google Shape;138;p17"/>
          <p:cNvSpPr/>
          <p:nvPr/>
        </p:nvSpPr>
        <p:spPr>
          <a:xfrm>
            <a:off x="8843486" y="6254115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39" name="Google Shape;139;p17"/>
          <p:cNvSpPr/>
          <p:nvPr/>
        </p:nvSpPr>
        <p:spPr>
          <a:xfrm>
            <a:off x="11473577" y="6254115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F44444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</a:t>
            </a:r>
            <a:endParaRPr sz="1600" b="0" i="0" u="none" strike="noStrike" cap="none"/>
          </a:p>
        </p:txBody>
      </p:sp>
      <p:sp>
        <p:nvSpPr>
          <p:cNvPr id="140" name="Google Shape;140;p17"/>
          <p:cNvSpPr/>
          <p:nvPr/>
        </p:nvSpPr>
        <p:spPr>
          <a:xfrm>
            <a:off x="739735" y="6721912"/>
            <a:ext cx="13150929" cy="93559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949404" y="6855023"/>
            <a:ext cx="220789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Multiple parameters for route ratings</a:t>
            </a:r>
            <a:endParaRPr sz="1600" b="0" i="0" u="none" strike="noStrike" cap="none"/>
          </a:p>
        </p:txBody>
      </p:sp>
      <p:sp>
        <p:nvSpPr>
          <p:cNvPr id="142" name="Google Shape;142;p17"/>
          <p:cNvSpPr/>
          <p:nvPr/>
        </p:nvSpPr>
        <p:spPr>
          <a:xfrm>
            <a:off x="3583305" y="6855023"/>
            <a:ext cx="220408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F7135"/>
              </a:buClr>
              <a:buSzPts val="1600"/>
              <a:buFont typeface="Overpass Light"/>
              <a:buNone/>
            </a:pPr>
            <a:r>
              <a:rPr lang="en-US" sz="1600" b="1" i="0" u="none" strike="noStrike" cap="none">
                <a:solidFill>
                  <a:srgbClr val="1F7135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</a:t>
            </a:r>
            <a:endParaRPr sz="1600" b="0" i="0" u="none" strike="noStrike" cap="none"/>
          </a:p>
        </p:txBody>
      </p:sp>
      <p:sp>
        <p:nvSpPr>
          <p:cNvPr id="143" name="Google Shape;143;p17"/>
          <p:cNvSpPr/>
          <p:nvPr/>
        </p:nvSpPr>
        <p:spPr>
          <a:xfrm>
            <a:off x="6213396" y="6855023"/>
            <a:ext cx="220408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 (only based on stars)</a:t>
            </a:r>
            <a:endParaRPr sz="1600" b="0" i="0" u="none" strike="noStrike" cap="none"/>
          </a:p>
        </p:txBody>
      </p:sp>
      <p:sp>
        <p:nvSpPr>
          <p:cNvPr id="144" name="Google Shape;144;p17"/>
          <p:cNvSpPr/>
          <p:nvPr/>
        </p:nvSpPr>
        <p:spPr>
          <a:xfrm>
            <a:off x="8843486" y="6855023"/>
            <a:ext cx="2204085" cy="66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 (only based on stars)</a:t>
            </a:r>
            <a:endParaRPr sz="1600" b="0" i="0" u="none" strike="noStrike" cap="none"/>
          </a:p>
        </p:txBody>
      </p:sp>
      <p:sp>
        <p:nvSpPr>
          <p:cNvPr id="145" name="Google Shape;145;p17"/>
          <p:cNvSpPr/>
          <p:nvPr/>
        </p:nvSpPr>
        <p:spPr>
          <a:xfrm>
            <a:off x="11473577" y="6855023"/>
            <a:ext cx="2207895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Overpass Light"/>
              <a:buNone/>
            </a:pPr>
            <a:r>
              <a:rPr lang="en-US" sz="160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Yes (Starts + filters)</a:t>
            </a:r>
            <a:endParaRPr sz="1600" b="0" i="0" u="none" strike="noStrike" cap="none"/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63" y="7705713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793790" y="1197888"/>
            <a:ext cx="7874794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Functional Requirements</a:t>
            </a:r>
            <a:endParaRPr sz="4450" b="0" i="0" u="none" strike="noStrike" cap="none"/>
          </a:p>
        </p:txBody>
      </p:sp>
      <p:sp>
        <p:nvSpPr>
          <p:cNvPr id="153" name="Google Shape;153;p18"/>
          <p:cNvSpPr/>
          <p:nvPr/>
        </p:nvSpPr>
        <p:spPr>
          <a:xfrm>
            <a:off x="793790" y="224682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User Authentication and Profiles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: Secure login via OAuth2, with options to update preferences and manage profiles.</a:t>
            </a:r>
            <a:endParaRPr sz="1750" b="0" i="0" u="none" strike="noStrike" cap="none"/>
          </a:p>
        </p:txBody>
      </p:sp>
      <p:sp>
        <p:nvSpPr>
          <p:cNvPr id="154" name="Google Shape;154;p18"/>
          <p:cNvSpPr/>
          <p:nvPr/>
        </p:nvSpPr>
        <p:spPr>
          <a:xfrm>
            <a:off x="793790" y="268902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Personalized Route Planning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: Recommend routes based on user data, with advanced search and filter options.</a:t>
            </a:r>
            <a:endParaRPr sz="1750" b="0" i="0" u="none" strike="noStrike" cap="none"/>
          </a:p>
        </p:txBody>
      </p:sp>
      <p:sp>
        <p:nvSpPr>
          <p:cNvPr id="155" name="Google Shape;155;p18"/>
          <p:cNvSpPr/>
          <p:nvPr/>
        </p:nvSpPr>
        <p:spPr>
          <a:xfrm>
            <a:off x="793790" y="313122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Comprehensive Route Descriptions: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Provide detailed route info, multimedia, and equipment suggestions.</a:t>
            </a:r>
            <a:endParaRPr sz="1750" b="0" i="0" u="none" strike="noStrike" cap="none"/>
          </a:p>
        </p:txBody>
      </p:sp>
      <p:sp>
        <p:nvSpPr>
          <p:cNvPr id="156" name="Google Shape;156;p18"/>
          <p:cNvSpPr/>
          <p:nvPr/>
        </p:nvSpPr>
        <p:spPr>
          <a:xfrm>
            <a:off x="793790" y="357342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Interactive Maps: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Display real-time location, routes, and customizable map layers.</a:t>
            </a:r>
            <a:endParaRPr sz="1750" b="0" i="0" u="none" strike="noStrike" cap="none"/>
          </a:p>
        </p:txBody>
      </p:sp>
      <p:sp>
        <p:nvSpPr>
          <p:cNvPr id="157" name="Google Shape;157;p18"/>
          <p:cNvSpPr/>
          <p:nvPr/>
        </p:nvSpPr>
        <p:spPr>
          <a:xfrm>
            <a:off x="793790" y="401562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Real-Time Alerts: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Notify about trail conditions, hazards, and sudden weather changes.</a:t>
            </a:r>
            <a:endParaRPr sz="1750" b="0" i="0" u="none" strike="noStrike" cap="none"/>
          </a:p>
        </p:txBody>
      </p:sp>
      <p:sp>
        <p:nvSpPr>
          <p:cNvPr id="158" name="Google Shape;158;p18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Weather Forecast Integration: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Offer weekly forecasts and real-time weather updates via APIs.</a:t>
            </a:r>
            <a:endParaRPr sz="1750" b="0" i="0" u="none" strike="noStrike" cap="none"/>
          </a:p>
        </p:txBody>
      </p:sp>
      <p:sp>
        <p:nvSpPr>
          <p:cNvPr id="159" name="Google Shape;159;p18"/>
          <p:cNvSpPr/>
          <p:nvPr/>
        </p:nvSpPr>
        <p:spPr>
          <a:xfrm>
            <a:off x="793790" y="490001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Community Features: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Enable user reviews, photo sharing, and trail suggestions.</a:t>
            </a:r>
            <a:endParaRPr sz="1750" b="0" i="0" u="none" strike="noStrike" cap="none"/>
          </a:p>
        </p:txBody>
      </p:sp>
      <p:sp>
        <p:nvSpPr>
          <p:cNvPr id="160" name="Google Shape;160;p18"/>
          <p:cNvSpPr/>
          <p:nvPr/>
        </p:nvSpPr>
        <p:spPr>
          <a:xfrm>
            <a:off x="793790" y="534221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Equipment Recommendations: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Provide gear suggestions and customizable packing lists.</a:t>
            </a:r>
            <a:endParaRPr sz="1750" b="0" i="0" u="none" strike="noStrike" cap="none"/>
          </a:p>
        </p:txBody>
      </p:sp>
      <p:sp>
        <p:nvSpPr>
          <p:cNvPr id="161" name="Google Shape;161;p18"/>
          <p:cNvSpPr/>
          <p:nvPr/>
        </p:nvSpPr>
        <p:spPr>
          <a:xfrm>
            <a:off x="793790" y="578441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Flexible Route Adjustments: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Allow dynamic route modifications based on preferences or location.</a:t>
            </a:r>
            <a:endParaRPr sz="1750" b="0" i="0" u="none" strike="noStrike" cap="none"/>
          </a:p>
        </p:txBody>
      </p:sp>
      <p:sp>
        <p:nvSpPr>
          <p:cNvPr id="162" name="Google Shape;162;p18"/>
          <p:cNvSpPr/>
          <p:nvPr/>
        </p:nvSpPr>
        <p:spPr>
          <a:xfrm>
            <a:off x="793790" y="622661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Real-Time Location Features: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Track user location, offer navigation, and provide location-based alerts.</a:t>
            </a:r>
            <a:endParaRPr sz="1750" b="0" i="0" u="none" strike="noStrike" cap="none"/>
          </a:p>
        </p:txBody>
      </p:sp>
      <p:sp>
        <p:nvSpPr>
          <p:cNvPr id="163" name="Google Shape;163;p18"/>
          <p:cNvSpPr/>
          <p:nvPr/>
        </p:nvSpPr>
        <p:spPr>
          <a:xfrm>
            <a:off x="793790" y="666881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Data Synchronization &amp; Offline Access: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Sync data across devices and allow offline map access.</a:t>
            </a:r>
            <a:endParaRPr sz="1750" b="0" i="0" u="none" strike="noStrike" cap="none"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75" y="7705713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793790" y="1141095"/>
            <a:ext cx="945773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Non-Functional Requirements</a:t>
            </a:r>
            <a:endParaRPr sz="4450" b="0" i="0" u="none" strike="noStrike" cap="none"/>
          </a:p>
        </p:txBody>
      </p:sp>
      <p:sp>
        <p:nvSpPr>
          <p:cNvPr id="171" name="Google Shape;171;p19"/>
          <p:cNvSpPr/>
          <p:nvPr/>
        </p:nvSpPr>
        <p:spPr>
          <a:xfrm>
            <a:off x="793790" y="230350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Performance: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Handle 1000+ concurrent users with optimized resource utilization for high traffic.</a:t>
            </a:r>
            <a:endParaRPr sz="1750" b="0" i="0" u="none" strike="noStrike" cap="none"/>
          </a:p>
        </p:txBody>
      </p:sp>
      <p:sp>
        <p:nvSpPr>
          <p:cNvPr id="172" name="Google Shape;172;p19"/>
          <p:cNvSpPr/>
          <p:nvPr/>
        </p:nvSpPr>
        <p:spPr>
          <a:xfrm>
            <a:off x="793790" y="274570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Scalability: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Design for horizontal scaling by adding microservice instances to support growing user loads.</a:t>
            </a:r>
            <a:endParaRPr sz="1750" b="0" i="0" u="none" strike="noStrike" cap="none"/>
          </a:p>
        </p:txBody>
      </p:sp>
      <p:sp>
        <p:nvSpPr>
          <p:cNvPr id="173" name="Google Shape;173;p19"/>
          <p:cNvSpPr/>
          <p:nvPr/>
        </p:nvSpPr>
        <p:spPr>
          <a:xfrm>
            <a:off x="793790" y="318789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Reliability and Availability: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Ensure 99.9% uptime, with redundant servers, failover mechanisms, and disaster recovery plans.</a:t>
            </a:r>
            <a:endParaRPr sz="1750" b="0" i="0" u="none" strike="noStrike" cap="none"/>
          </a:p>
        </p:txBody>
      </p:sp>
      <p:sp>
        <p:nvSpPr>
          <p:cNvPr id="174" name="Google Shape;174;p19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Security: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Implement OAuth2 authentication, role-based access control (RBAC), and regular vulnerability testing.</a:t>
            </a:r>
            <a:endParaRPr sz="1750" b="0" i="0" u="none" strike="noStrike" cap="none"/>
          </a:p>
        </p:txBody>
      </p:sp>
      <p:sp>
        <p:nvSpPr>
          <p:cNvPr id="175" name="Google Shape;175;p19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Usability: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Create an intuitive interface with WCAG-compliant accessibility, responsive design across devices.</a:t>
            </a:r>
            <a:endParaRPr sz="1750" b="0" i="0" u="none" strike="noStrike" cap="none"/>
          </a:p>
        </p:txBody>
      </p:sp>
      <p:sp>
        <p:nvSpPr>
          <p:cNvPr id="176" name="Google Shape;176;p19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Maintainability: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Write clean, modular code, maintain documentation, and use Git for version control.</a:t>
            </a:r>
            <a:endParaRPr sz="1750" b="0" i="0" u="none" strike="noStrike" cap="none"/>
          </a:p>
        </p:txBody>
      </p:sp>
      <p:sp>
        <p:nvSpPr>
          <p:cNvPr id="177" name="Google Shape;177;p19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Compatibility: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Ensure compatibility across major browsers, web and mobile platforms, and various devices.</a:t>
            </a:r>
            <a:endParaRPr sz="1750" b="0" i="0" u="none" strike="noStrike" cap="none"/>
          </a:p>
        </p:txBody>
      </p:sp>
      <p:sp>
        <p:nvSpPr>
          <p:cNvPr id="178" name="Google Shape;178;p19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Reliability: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Implement error handling and set up automated alerts for critical system issues.</a:t>
            </a:r>
            <a:endParaRPr sz="1750" b="0" i="0" u="none" strike="noStrike" cap="none"/>
          </a:p>
        </p:txBody>
      </p:sp>
      <p:sp>
        <p:nvSpPr>
          <p:cNvPr id="179" name="Google Shape;179;p19"/>
          <p:cNvSpPr/>
          <p:nvPr/>
        </p:nvSpPr>
        <p:spPr>
          <a:xfrm>
            <a:off x="793790" y="584108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Performance Optimization: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Optimize database queries and use load balancing to enhance performance.</a:t>
            </a:r>
            <a:endParaRPr sz="1750" b="0" i="0" u="none" strike="noStrike" cap="none"/>
          </a:p>
        </p:txBody>
      </p:sp>
      <p:sp>
        <p:nvSpPr>
          <p:cNvPr id="180" name="Google Shape;180;p19"/>
          <p:cNvSpPr/>
          <p:nvPr/>
        </p:nvSpPr>
        <p:spPr>
          <a:xfrm>
            <a:off x="793790" y="628328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Data Management: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Ensure data integrity, perform regular backups, and follow data retention policies.</a:t>
            </a:r>
            <a:endParaRPr sz="1750" b="0" i="0" u="none" strike="noStrike" cap="none"/>
          </a:p>
        </p:txBody>
      </p:sp>
      <p:sp>
        <p:nvSpPr>
          <p:cNvPr id="181" name="Google Shape;181;p19"/>
          <p:cNvSpPr/>
          <p:nvPr/>
        </p:nvSpPr>
        <p:spPr>
          <a:xfrm>
            <a:off x="793790" y="672548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Testing and Quality Assurance: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Use automated testing to ensure reliability and functionality.</a:t>
            </a:r>
            <a:endParaRPr sz="1750" b="0" i="0" u="none" strike="noStrike" cap="none"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75" y="7705736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606981" y="478155"/>
            <a:ext cx="5632133" cy="54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400"/>
              <a:buFont typeface="Syne"/>
              <a:buNone/>
            </a:pPr>
            <a:r>
              <a:rPr lang="en-US" sz="340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High-Level Architecture</a:t>
            </a:r>
            <a:endParaRPr sz="3400" b="0" i="0" u="none" strike="noStrike" cap="none"/>
          </a:p>
        </p:txBody>
      </p:sp>
      <p:pic>
        <p:nvPicPr>
          <p:cNvPr id="189" name="Google Shape;18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0721" y="1280279"/>
            <a:ext cx="6908840" cy="6471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1086" y="7705725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581501" y="456843"/>
            <a:ext cx="4353997" cy="51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3250"/>
              <a:buFont typeface="Syne"/>
              <a:buNone/>
            </a:pPr>
            <a:r>
              <a:rPr lang="en-US" sz="32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Database Diagram</a:t>
            </a:r>
            <a:endParaRPr sz="3250" b="0" i="0" u="none" strike="noStrike" cap="none"/>
          </a:p>
        </p:txBody>
      </p:sp>
      <p:pic>
        <p:nvPicPr>
          <p:cNvPr id="197" name="Google Shape;19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2441" y="1308378"/>
            <a:ext cx="9865400" cy="653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52641" y="7739150"/>
            <a:ext cx="2077759" cy="490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793790" y="1574721"/>
            <a:ext cx="11062335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How the Matching Algorithm Works</a:t>
            </a:r>
            <a:endParaRPr sz="4450" b="0" i="0" u="none" strike="noStrike" cap="none"/>
          </a:p>
        </p:txBody>
      </p:sp>
      <p:sp>
        <p:nvSpPr>
          <p:cNvPr id="205" name="Google Shape;205;p22"/>
          <p:cNvSpPr/>
          <p:nvPr/>
        </p:nvSpPr>
        <p:spPr>
          <a:xfrm>
            <a:off x="793790" y="3041928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User Data Collection: 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Gather data from the user's profile (preferences, hiking history) and real-time conditions (weather, trail status).</a:t>
            </a:r>
            <a:endParaRPr sz="175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793790" y="354222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Collaborative Filtering: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Compare the user’s preferences with similar users (User-Based) or past routes (Item-Based) to suggest routes.</a:t>
            </a:r>
            <a:endParaRPr sz="1750" b="0" i="0" u="none" strike="noStrike" cap="none"/>
          </a:p>
        </p:txBody>
      </p:sp>
      <p:sp>
        <p:nvSpPr>
          <p:cNvPr id="207" name="Google Shape;207;p22"/>
          <p:cNvSpPr/>
          <p:nvPr/>
        </p:nvSpPr>
        <p:spPr>
          <a:xfrm>
            <a:off x="793790" y="434732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Content-Based Filtering: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Match routes based on user preferences (difficulty, terrain, length) and past activity.</a:t>
            </a:r>
            <a:endParaRPr sz="1750" b="0" i="0" u="none" strike="noStrike" cap="none"/>
          </a:p>
        </p:txBody>
      </p:sp>
      <p:sp>
        <p:nvSpPr>
          <p:cNvPr id="208" name="Google Shape;208;p22"/>
          <p:cNvSpPr/>
          <p:nvPr/>
        </p:nvSpPr>
        <p:spPr>
          <a:xfrm>
            <a:off x="793790" y="478952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Hybrid Approach: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Combine both filtering methods to improve recommendations.</a:t>
            </a:r>
            <a:endParaRPr sz="1750" b="0" i="0" u="none" strike="noStrike" cap="none"/>
          </a:p>
        </p:txBody>
      </p:sp>
      <p:sp>
        <p:nvSpPr>
          <p:cNvPr id="209" name="Google Shape;209;p22"/>
          <p:cNvSpPr/>
          <p:nvPr/>
        </p:nvSpPr>
        <p:spPr>
          <a:xfrm>
            <a:off x="793790" y="523172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Recommendation Delivery: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Suggest the best routes to the user, considering their profile and real-time conditions.</a:t>
            </a:r>
            <a:endParaRPr sz="1750" b="0" i="0" u="none" strike="noStrike" cap="none"/>
          </a:p>
        </p:txBody>
      </p:sp>
      <p:sp>
        <p:nvSpPr>
          <p:cNvPr id="210" name="Google Shape;210;p22"/>
          <p:cNvSpPr/>
          <p:nvPr/>
        </p:nvSpPr>
        <p:spPr>
          <a:xfrm>
            <a:off x="793790" y="567392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User Feedback:</a:t>
            </a: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Collect feedback to refine future route suggestions and improve accuracy.</a:t>
            </a:r>
            <a:endParaRPr sz="1750" b="0" i="0" u="none" strike="noStrike" cap="none"/>
          </a:p>
        </p:txBody>
      </p:sp>
      <p:sp>
        <p:nvSpPr>
          <p:cNvPr id="211" name="Google Shape;211;p22"/>
          <p:cNvSpPr/>
          <p:nvPr/>
        </p:nvSpPr>
        <p:spPr>
          <a:xfrm>
            <a:off x="793790" y="629197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This ensures tailored, dynamic hiking recommendations based on both user preferences and real-time data.</a:t>
            </a:r>
            <a:endParaRPr sz="1750" b="0" i="0" u="none" strike="noStrike" cap="none"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75" y="7705725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793790" y="992386"/>
            <a:ext cx="6207323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UML Class Diagram</a:t>
            </a:r>
            <a:endParaRPr sz="4450" b="0" i="0" u="none" strike="noStrike" cap="none"/>
          </a:p>
        </p:txBody>
      </p:sp>
      <p:pic>
        <p:nvPicPr>
          <p:cNvPr id="219" name="Google Shape;219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09" y="2041327"/>
            <a:ext cx="13042583" cy="519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1063" y="7705725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/>
          <p:nvPr/>
        </p:nvSpPr>
        <p:spPr>
          <a:xfrm>
            <a:off x="793790" y="1631752"/>
            <a:ext cx="1041849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450"/>
              <a:buFont typeface="Syne"/>
              <a:buNone/>
            </a:pPr>
            <a:r>
              <a:rPr lang="en-US" sz="4450" b="1" i="0" u="none" strike="noStrike" cap="none" dirty="0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Development stages</a:t>
            </a:r>
            <a:endParaRPr sz="4450" b="0" i="0" u="none" strike="noStrike" cap="none" dirty="0"/>
          </a:p>
        </p:txBody>
      </p:sp>
      <p:sp>
        <p:nvSpPr>
          <p:cNvPr id="227" name="Google Shape;227;p24"/>
          <p:cNvSpPr/>
          <p:nvPr/>
        </p:nvSpPr>
        <p:spPr>
          <a:xfrm>
            <a:off x="793790" y="2680692"/>
            <a:ext cx="13042821" cy="3917156"/>
          </a:xfrm>
          <a:prstGeom prst="roundRect">
            <a:avLst>
              <a:gd name="adj" fmla="val 2432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801410" y="2688312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1029653" y="283202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Task name </a:t>
            </a:r>
            <a:endParaRPr sz="1750" b="1" i="0" u="none" strike="noStrike" cap="none"/>
          </a:p>
        </p:txBody>
      </p:sp>
      <p:sp>
        <p:nvSpPr>
          <p:cNvPr id="230" name="Google Shape;230;p24"/>
          <p:cNvSpPr/>
          <p:nvPr/>
        </p:nvSpPr>
        <p:spPr>
          <a:xfrm>
            <a:off x="5375077" y="2832021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Start </a:t>
            </a:r>
            <a:endParaRPr sz="1750" b="1" i="0" u="none" strike="noStrike" cap="none"/>
          </a:p>
        </p:txBody>
      </p:sp>
      <p:sp>
        <p:nvSpPr>
          <p:cNvPr id="231" name="Google Shape;231;p24"/>
          <p:cNvSpPr/>
          <p:nvPr/>
        </p:nvSpPr>
        <p:spPr>
          <a:xfrm>
            <a:off x="9716691" y="2832021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1" i="0" u="none" strike="noStrike" cap="non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End</a:t>
            </a:r>
            <a:endParaRPr sz="1750" b="1" i="0" u="none" strike="noStrike" cap="none"/>
          </a:p>
        </p:txBody>
      </p:sp>
      <p:sp>
        <p:nvSpPr>
          <p:cNvPr id="232" name="Google Shape;232;p24"/>
          <p:cNvSpPr/>
          <p:nvPr/>
        </p:nvSpPr>
        <p:spPr>
          <a:xfrm>
            <a:off x="801410" y="3338632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1029653" y="3482340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Presentation</a:t>
            </a:r>
            <a:endParaRPr sz="1750" b="0" i="0" u="none" strike="noStrike" cap="none"/>
          </a:p>
        </p:txBody>
      </p:sp>
      <p:sp>
        <p:nvSpPr>
          <p:cNvPr id="234" name="Google Shape;234;p24"/>
          <p:cNvSpPr/>
          <p:nvPr/>
        </p:nvSpPr>
        <p:spPr>
          <a:xfrm>
            <a:off x="5375077" y="3482340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23/12/2024</a:t>
            </a:r>
            <a:endParaRPr sz="1750" b="0" i="0" u="none" strike="noStrike" cap="none"/>
          </a:p>
        </p:txBody>
      </p:sp>
      <p:sp>
        <p:nvSpPr>
          <p:cNvPr id="235" name="Google Shape;235;p24"/>
          <p:cNvSpPr/>
          <p:nvPr/>
        </p:nvSpPr>
        <p:spPr>
          <a:xfrm>
            <a:off x="9716691" y="3482340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27/12/2024</a:t>
            </a:r>
            <a:endParaRPr sz="1750" b="0" i="0" u="none" strike="noStrike" cap="none"/>
          </a:p>
        </p:txBody>
      </p:sp>
      <p:sp>
        <p:nvSpPr>
          <p:cNvPr id="236" name="Google Shape;236;p24"/>
          <p:cNvSpPr/>
          <p:nvPr/>
        </p:nvSpPr>
        <p:spPr>
          <a:xfrm>
            <a:off x="801410" y="3988951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1029653" y="4132659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Presentation - class</a:t>
            </a:r>
            <a:endParaRPr sz="1750" b="0" i="0" u="none" strike="noStrike" cap="none"/>
          </a:p>
        </p:txBody>
      </p:sp>
      <p:sp>
        <p:nvSpPr>
          <p:cNvPr id="238" name="Google Shape;238;p24"/>
          <p:cNvSpPr/>
          <p:nvPr/>
        </p:nvSpPr>
        <p:spPr>
          <a:xfrm>
            <a:off x="5375077" y="4132659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16/1/2025</a:t>
            </a:r>
            <a:endParaRPr sz="1750" b="0" i="0" u="none" strike="noStrike" cap="none"/>
          </a:p>
        </p:txBody>
      </p:sp>
      <p:sp>
        <p:nvSpPr>
          <p:cNvPr id="239" name="Google Shape;239;p24"/>
          <p:cNvSpPr/>
          <p:nvPr/>
        </p:nvSpPr>
        <p:spPr>
          <a:xfrm>
            <a:off x="9716691" y="4132659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16/1/2025</a:t>
            </a:r>
            <a:endParaRPr sz="1750" b="0" i="0" u="none" strike="noStrike" cap="none"/>
          </a:p>
        </p:txBody>
      </p:sp>
      <p:sp>
        <p:nvSpPr>
          <p:cNvPr id="240" name="Google Shape;240;p24"/>
          <p:cNvSpPr/>
          <p:nvPr/>
        </p:nvSpPr>
        <p:spPr>
          <a:xfrm>
            <a:off x="801410" y="4639270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1029653" y="4782979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Code</a:t>
            </a:r>
            <a:endParaRPr sz="1750" b="0" i="0" u="none" strike="noStrike" cap="none"/>
          </a:p>
        </p:txBody>
      </p:sp>
      <p:sp>
        <p:nvSpPr>
          <p:cNvPr id="242" name="Google Shape;242;p24"/>
          <p:cNvSpPr/>
          <p:nvPr/>
        </p:nvSpPr>
        <p:spPr>
          <a:xfrm>
            <a:off x="5375077" y="4782979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25/1/2025</a:t>
            </a:r>
            <a:endParaRPr sz="1750" b="0" i="0" u="none" strike="noStrike" cap="none"/>
          </a:p>
        </p:txBody>
      </p:sp>
      <p:sp>
        <p:nvSpPr>
          <p:cNvPr id="243" name="Google Shape;243;p24"/>
          <p:cNvSpPr/>
          <p:nvPr/>
        </p:nvSpPr>
        <p:spPr>
          <a:xfrm>
            <a:off x="9716691" y="4782979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25/3/2025</a:t>
            </a:r>
            <a:endParaRPr sz="1750" b="0" i="0" u="none" strike="noStrike" cap="none"/>
          </a:p>
        </p:txBody>
      </p:sp>
      <p:sp>
        <p:nvSpPr>
          <p:cNvPr id="244" name="Google Shape;244;p24"/>
          <p:cNvSpPr/>
          <p:nvPr/>
        </p:nvSpPr>
        <p:spPr>
          <a:xfrm>
            <a:off x="801410" y="5289590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1029653" y="543329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Test the app</a:t>
            </a:r>
            <a:endParaRPr sz="1750" b="0" i="0" u="none" strike="noStrike" cap="none"/>
          </a:p>
        </p:txBody>
      </p:sp>
      <p:sp>
        <p:nvSpPr>
          <p:cNvPr id="246" name="Google Shape;246;p24"/>
          <p:cNvSpPr/>
          <p:nvPr/>
        </p:nvSpPr>
        <p:spPr>
          <a:xfrm>
            <a:off x="5375077" y="543329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26/3/2025</a:t>
            </a:r>
            <a:endParaRPr sz="1750" b="0" i="0" u="none" strike="noStrike" cap="none"/>
          </a:p>
        </p:txBody>
      </p:sp>
      <p:sp>
        <p:nvSpPr>
          <p:cNvPr id="247" name="Google Shape;247;p24"/>
          <p:cNvSpPr/>
          <p:nvPr/>
        </p:nvSpPr>
        <p:spPr>
          <a:xfrm>
            <a:off x="9716691" y="543329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10/4/2025</a:t>
            </a:r>
            <a:endParaRPr sz="1750" b="0" i="0" u="none" strike="noStrike" cap="none"/>
          </a:p>
        </p:txBody>
      </p:sp>
      <p:sp>
        <p:nvSpPr>
          <p:cNvPr id="248" name="Google Shape;248;p24"/>
          <p:cNvSpPr/>
          <p:nvPr/>
        </p:nvSpPr>
        <p:spPr>
          <a:xfrm>
            <a:off x="801410" y="5939909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1029653" y="608361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Deployment</a:t>
            </a:r>
            <a:endParaRPr sz="1750" b="0" i="0" u="none" strike="noStrike" cap="none"/>
          </a:p>
        </p:txBody>
      </p:sp>
      <p:sp>
        <p:nvSpPr>
          <p:cNvPr id="250" name="Google Shape;250;p24"/>
          <p:cNvSpPr/>
          <p:nvPr/>
        </p:nvSpPr>
        <p:spPr>
          <a:xfrm>
            <a:off x="5375077" y="608361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11/4/2025</a:t>
            </a:r>
            <a:endParaRPr sz="1750" b="0" i="0" u="none" strike="noStrike" cap="none"/>
          </a:p>
        </p:txBody>
      </p:sp>
      <p:sp>
        <p:nvSpPr>
          <p:cNvPr id="251" name="Google Shape;251;p24"/>
          <p:cNvSpPr/>
          <p:nvPr/>
        </p:nvSpPr>
        <p:spPr>
          <a:xfrm>
            <a:off x="9716691" y="608361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750"/>
              <a:buFont typeface="Overpass Light"/>
              <a:buNone/>
            </a:pPr>
            <a:r>
              <a:rPr lang="en-US" sz="1750" b="0" i="0" u="none" strike="noStrike" cap="non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25/4/2025</a:t>
            </a:r>
            <a:endParaRPr sz="1750" b="0" i="0" u="none" strike="noStrike" cap="none"/>
          </a:p>
        </p:txBody>
      </p:sp>
      <p:pic>
        <p:nvPicPr>
          <p:cNvPr id="252" name="Google Shape;2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1075" y="7705723"/>
            <a:ext cx="22193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Custom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Overpass</vt:lpstr>
      <vt:lpstr>Overpass Light</vt:lpstr>
      <vt:lpstr>Arial</vt:lpstr>
      <vt:lpstr>Calibri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Shai Odeni</cp:lastModifiedBy>
  <cp:revision>1</cp:revision>
  <dcterms:modified xsi:type="dcterms:W3CDTF">2024-12-24T18:17:35Z</dcterms:modified>
</cp:coreProperties>
</file>