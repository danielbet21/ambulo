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0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</p:sldIdLst>
  <p:sldSz cy="8229600" cx="14630400"/>
  <p:notesSz cx="8229600" cy="14630400"/>
  <p:embeddedFontLst>
    <p:embeddedFont>
      <p:font typeface="Overpass Black"/>
      <p:bold r:id="rId16"/>
      <p:boldItalic r:id="rId17"/>
    </p:embeddedFont>
    <p:embeddedFont>
      <p:font typeface="Overpass"/>
      <p:regular r:id="rId18"/>
      <p:bold r:id="rId19"/>
      <p:italic r:id="rId20"/>
      <p:boldItalic r:id="rId21"/>
    </p:embeddedFont>
    <p:embeddedFont>
      <p:font typeface="Overpass Light"/>
      <p:regular r:id="rId22"/>
      <p:bold r:id="rId23"/>
      <p:italic r:id="rId24"/>
      <p:boldItalic r:id="rId25"/>
    </p:embeddedFont>
    <p:embeddedFont>
      <p:font typeface="Syne"/>
      <p:bold r:id="rId2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Overpass-italic.fntdata"/><Relationship Id="rId22" Type="http://schemas.openxmlformats.org/officeDocument/2006/relationships/font" Target="fonts/OverpassLight-regular.fntdata"/><Relationship Id="rId21" Type="http://schemas.openxmlformats.org/officeDocument/2006/relationships/font" Target="fonts/Overpass-boldItalic.fntdata"/><Relationship Id="rId24" Type="http://schemas.openxmlformats.org/officeDocument/2006/relationships/font" Target="fonts/OverpassLight-italic.fntdata"/><Relationship Id="rId23" Type="http://schemas.openxmlformats.org/officeDocument/2006/relationships/font" Target="fonts/OverpassLight-bold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font" Target="fonts/Syne-bold.fntdata"/><Relationship Id="rId25" Type="http://schemas.openxmlformats.org/officeDocument/2006/relationships/font" Target="fonts/OverpassLight-boldItalic.fntdata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font" Target="fonts/OverpassBlack-boldItalic.fntdata"/><Relationship Id="rId16" Type="http://schemas.openxmlformats.org/officeDocument/2006/relationships/font" Target="fonts/OverpassBlack-bold.fntdata"/><Relationship Id="rId19" Type="http://schemas.openxmlformats.org/officeDocument/2006/relationships/font" Target="fonts/Overpass-bold.fntdata"/><Relationship Id="rId18" Type="http://schemas.openxmlformats.org/officeDocument/2006/relationships/font" Target="fonts/Overpass-regular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/>
              <a:t>‹#›</a:t>
            </a:fld>
            <a:endParaRPr b="0" i="0" sz="1200" u="none" cap="none" strike="noStrike"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" name="Google Shape;58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5" name="Google Shape;6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" name="Google Shape;66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1" name="Google Shape;8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8" name="Google Shape;9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2" name="Google Shape;162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" name="Google Shape;163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4" name="Google Shape;184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5" name="Google Shape;185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6" name="Google Shape;19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7" name="Google Shape;197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4" name="Google Shape;20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5" name="Google Shape;205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2" name="Google Shape;212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3" name="Google Shape;213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2" name="Google Shape;222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5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5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5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5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5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5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5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5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5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5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5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1 master">
  <p:cSld name="Slide 1 master"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2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9F4B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DE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3" name="Google Shape;13;p2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839215" y="7749540"/>
            <a:ext cx="1722604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2 master">
  <p:cSld name="Slide 2 master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9F4B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" name="Google Shape;16;p3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DE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7" name="Google Shape;17;p3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839215" y="7749540"/>
            <a:ext cx="1722604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3 master">
  <p:cSld name="Slide 3 master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4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9F4B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" name="Google Shape;20;p4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DE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1" name="Google Shape;21;p4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839215" y="7749540"/>
            <a:ext cx="1722604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4 master">
  <p:cSld name="Slide 4 master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5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9F4B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" name="Google Shape;24;p5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DE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5" name="Google Shape;25;p5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839215" y="7749540"/>
            <a:ext cx="1722604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5 master">
  <p:cSld name="Slide 5 master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9F4B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" name="Google Shape;28;p6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DE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9" name="Google Shape;29;p6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839215" y="7749540"/>
            <a:ext cx="1722604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6 master">
  <p:cSld name="Slide 6 mast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9F4B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" name="Google Shape;32;p7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DE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33" name="Google Shape;33;p7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839215" y="7749540"/>
            <a:ext cx="1722604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7 master">
  <p:cSld name="Slide 7 mast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8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9F4B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" name="Google Shape;36;p8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DE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37" name="Google Shape;37;p8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839215" y="7749540"/>
            <a:ext cx="1722604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8 master">
  <p:cSld name="Slide 8 master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9F4B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" name="Google Shape;40;p9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DE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41" name="Google Shape;41;p9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839215" y="7749540"/>
            <a:ext cx="1722604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9 master">
  <p:cSld name="Slide 9 master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1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9F4B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" name="Google Shape;44;p1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DE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45" name="Google Shape;45;p10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839215" y="7749540"/>
            <a:ext cx="1722604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10 master">
  <p:cSld name="Slide 10 master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9F4B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" name="Google Shape;48;p1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DE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49" name="Google Shape;49;p11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839215" y="7749540"/>
            <a:ext cx="1722604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11 master">
  <p:cSld name="Slide 11 mast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2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9F4B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" name="Google Shape;52;p12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DE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53" name="Google Shape;53;p12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839215" y="7749540"/>
            <a:ext cx="1722604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4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6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9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6.png"/><Relationship Id="rId4" Type="http://schemas.openxmlformats.org/officeDocument/2006/relationships/image" Target="../media/image13.png"/><Relationship Id="rId5" Type="http://schemas.openxmlformats.org/officeDocument/2006/relationships/image" Target="../media/image12.png"/><Relationship Id="rId6" Type="http://schemas.openxmlformats.org/officeDocument/2006/relationships/image" Target="../media/image25.png"/><Relationship Id="rId7" Type="http://schemas.openxmlformats.org/officeDocument/2006/relationships/image" Target="../media/image24.png"/><Relationship Id="rId8" Type="http://schemas.openxmlformats.org/officeDocument/2006/relationships/image" Target="../media/image3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6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9.png"/><Relationship Id="rId4" Type="http://schemas.openxmlformats.org/officeDocument/2006/relationships/image" Target="../media/image1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0.png"/><Relationship Id="rId4" Type="http://schemas.openxmlformats.org/officeDocument/2006/relationships/image" Target="../media/image16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7.png"/><Relationship Id="rId4" Type="http://schemas.openxmlformats.org/officeDocument/2006/relationships/image" Target="../media/image16.png"/><Relationship Id="rId5" Type="http://schemas.openxmlformats.org/officeDocument/2006/relationships/image" Target="../media/image28.png"/><Relationship Id="rId6" Type="http://schemas.openxmlformats.org/officeDocument/2006/relationships/image" Target="../media/image3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7.png"/><Relationship Id="rId4" Type="http://schemas.openxmlformats.org/officeDocument/2006/relationships/image" Target="../media/image16.png"/><Relationship Id="rId9" Type="http://schemas.openxmlformats.org/officeDocument/2006/relationships/image" Target="../media/image35.png"/><Relationship Id="rId5" Type="http://schemas.openxmlformats.org/officeDocument/2006/relationships/image" Target="../media/image32.png"/><Relationship Id="rId6" Type="http://schemas.openxmlformats.org/officeDocument/2006/relationships/image" Target="../media/image36.png"/><Relationship Id="rId7" Type="http://schemas.openxmlformats.org/officeDocument/2006/relationships/image" Target="../media/image31.png"/><Relationship Id="rId8" Type="http://schemas.openxmlformats.org/officeDocument/2006/relationships/image" Target="../media/image3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60" name="Google Shape;60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144000" y="0"/>
            <a:ext cx="5486400" cy="8229600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4"/>
          <p:cNvSpPr/>
          <p:nvPr/>
        </p:nvSpPr>
        <p:spPr>
          <a:xfrm>
            <a:off x="653075" y="1279000"/>
            <a:ext cx="8091600" cy="3198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4719"/>
              </a:lnSpc>
              <a:spcBef>
                <a:spcPts val="0"/>
              </a:spcBef>
              <a:spcAft>
                <a:spcPts val="0"/>
              </a:spcAft>
              <a:buClr>
                <a:srgbClr val="233939"/>
              </a:buClr>
              <a:buSzPts val="4450"/>
              <a:buFont typeface="Syne"/>
              <a:buNone/>
            </a:pPr>
            <a:r>
              <a:rPr b="1" i="0" lang="en-US" sz="5000" u="none" cap="none" strike="noStrike">
                <a:solidFill>
                  <a:srgbClr val="233939"/>
                </a:solidFill>
                <a:latin typeface="Syne"/>
                <a:ea typeface="Syne"/>
                <a:cs typeface="Syne"/>
                <a:sym typeface="Syne"/>
              </a:rPr>
              <a:t>Ambulo</a:t>
            </a:r>
            <a:endParaRPr b="1" i="0" sz="5000" u="none" cap="none" strike="noStrike">
              <a:solidFill>
                <a:srgbClr val="233939"/>
              </a:solidFill>
              <a:latin typeface="Syne"/>
              <a:ea typeface="Syne"/>
              <a:cs typeface="Syne"/>
              <a:sym typeface="Syne"/>
            </a:endParaRPr>
          </a:p>
          <a:p>
            <a:pPr indent="0" lvl="0" marL="0" marR="0" rtl="0" algn="l">
              <a:lnSpc>
                <a:spcPct val="124719"/>
              </a:lnSpc>
              <a:spcBef>
                <a:spcPts val="0"/>
              </a:spcBef>
              <a:spcAft>
                <a:spcPts val="0"/>
              </a:spcAft>
              <a:buClr>
                <a:srgbClr val="233939"/>
              </a:buClr>
              <a:buSzPts val="4450"/>
              <a:buFont typeface="Syne"/>
              <a:buNone/>
            </a:pPr>
            <a:r>
              <a:t/>
            </a:r>
            <a:endParaRPr b="1" sz="4150">
              <a:solidFill>
                <a:srgbClr val="233939"/>
              </a:solidFill>
              <a:latin typeface="Syne"/>
              <a:ea typeface="Syne"/>
              <a:cs typeface="Syne"/>
              <a:sym typeface="Syne"/>
            </a:endParaRPr>
          </a:p>
          <a:p>
            <a:pPr indent="0" lvl="0" marL="0" marR="0" rtl="0" algn="l">
              <a:lnSpc>
                <a:spcPct val="124719"/>
              </a:lnSpc>
              <a:spcBef>
                <a:spcPts val="0"/>
              </a:spcBef>
              <a:spcAft>
                <a:spcPts val="0"/>
              </a:spcAft>
              <a:buClr>
                <a:srgbClr val="233939"/>
              </a:buClr>
              <a:buSzPts val="4450"/>
              <a:buFont typeface="Syne"/>
              <a:buNone/>
            </a:pPr>
            <a:r>
              <a:rPr b="1" i="0" lang="en-US" sz="4000" u="none" cap="none" strike="noStrike">
                <a:solidFill>
                  <a:srgbClr val="233939"/>
                </a:solidFill>
              </a:rPr>
              <a:t>Your Personalized Hiking Companion</a:t>
            </a:r>
            <a:endParaRPr i="0" sz="4000" u="none" cap="none" strike="noStrike"/>
          </a:p>
        </p:txBody>
      </p:sp>
      <p:sp>
        <p:nvSpPr>
          <p:cNvPr id="62" name="Google Shape;62;p14"/>
          <p:cNvSpPr/>
          <p:nvPr/>
        </p:nvSpPr>
        <p:spPr>
          <a:xfrm>
            <a:off x="793790" y="4622244"/>
            <a:ext cx="7556421" cy="14516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3B4E4E"/>
              </a:buClr>
              <a:buSzPts val="1750"/>
              <a:buFont typeface="Overpass Light"/>
              <a:buNone/>
            </a:pPr>
            <a:br>
              <a:rPr b="0" i="0" lang="en-US" sz="1750" u="none" cap="none" strike="noStrike">
                <a:solidFill>
                  <a:srgbClr val="3B4E4E"/>
                </a:solidFill>
                <a:latin typeface="Overpass Light"/>
                <a:ea typeface="Overpass Light"/>
                <a:cs typeface="Overpass Light"/>
                <a:sym typeface="Overpass Light"/>
              </a:rPr>
            </a:br>
            <a:r>
              <a:rPr b="1" i="0" lang="en-US" sz="1750" u="none" cap="none" strike="noStrike">
                <a:solidFill>
                  <a:srgbClr val="3B4E4E"/>
                </a:solidFill>
                <a:latin typeface="Overpass Light"/>
                <a:ea typeface="Overpass Light"/>
                <a:cs typeface="Overpass Light"/>
                <a:sym typeface="Overpass Light"/>
              </a:rPr>
              <a:t>Shai Odeni </a:t>
            </a:r>
            <a:br>
              <a:rPr b="0" i="0" lang="en-US" sz="1750" u="none" cap="none" strike="noStrike">
                <a:solidFill>
                  <a:srgbClr val="3B4E4E"/>
                </a:solidFill>
                <a:latin typeface="Overpass Light"/>
                <a:ea typeface="Overpass Light"/>
                <a:cs typeface="Overpass Light"/>
                <a:sym typeface="Overpass Light"/>
              </a:rPr>
            </a:br>
            <a:r>
              <a:rPr b="1" i="0" lang="en-US" sz="1750" u="none" cap="none" strike="noStrike">
                <a:solidFill>
                  <a:srgbClr val="3B4E4E"/>
                </a:solidFill>
                <a:latin typeface="Overpass Light"/>
                <a:ea typeface="Overpass Light"/>
                <a:cs typeface="Overpass Light"/>
                <a:sym typeface="Overpass Light"/>
              </a:rPr>
              <a:t>Daniel Betzalel</a:t>
            </a:r>
            <a:br>
              <a:rPr b="0" i="0" lang="en-US" sz="1750" u="none" cap="none" strike="noStrike">
                <a:solidFill>
                  <a:srgbClr val="3B4E4E"/>
                </a:solidFill>
                <a:latin typeface="Overpass Light"/>
                <a:ea typeface="Overpass Light"/>
                <a:cs typeface="Overpass Light"/>
                <a:sym typeface="Overpass Light"/>
              </a:rPr>
            </a:br>
            <a:endParaRPr b="0" i="0" sz="1750" u="none" cap="none" strike="noStrike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/>
          <p:nvPr/>
        </p:nvSpPr>
        <p:spPr>
          <a:xfrm>
            <a:off x="793798" y="1655775"/>
            <a:ext cx="8989800" cy="70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4719"/>
              </a:lnSpc>
              <a:spcBef>
                <a:spcPts val="0"/>
              </a:spcBef>
              <a:spcAft>
                <a:spcPts val="0"/>
              </a:spcAft>
              <a:buClr>
                <a:srgbClr val="233939"/>
              </a:buClr>
              <a:buSzPts val="4450"/>
              <a:buFont typeface="Syne"/>
              <a:buNone/>
            </a:pPr>
            <a:r>
              <a:rPr b="1" i="0" lang="en-US" sz="4000" u="none" cap="none" strike="noStrike">
                <a:solidFill>
                  <a:srgbClr val="233939"/>
                </a:solidFill>
              </a:rPr>
              <a:t>The Pain Points of Traditional Hiking</a:t>
            </a:r>
            <a:endParaRPr i="0" sz="4000" u="none" cap="none" strike="noStrike"/>
          </a:p>
        </p:txBody>
      </p:sp>
      <p:sp>
        <p:nvSpPr>
          <p:cNvPr id="69" name="Google Shape;69;p15"/>
          <p:cNvSpPr/>
          <p:nvPr/>
        </p:nvSpPr>
        <p:spPr>
          <a:xfrm>
            <a:off x="793790" y="2796540"/>
            <a:ext cx="13042821" cy="36290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SzPts val="1750"/>
              <a:buFont typeface="Arial"/>
              <a:buNone/>
            </a:pPr>
            <a:r>
              <a:t/>
            </a:r>
            <a:endParaRPr b="0" i="0" sz="1750" u="none" cap="none" strike="noStrike"/>
          </a:p>
        </p:txBody>
      </p:sp>
      <p:sp>
        <p:nvSpPr>
          <p:cNvPr id="70" name="Google Shape;70;p15"/>
          <p:cNvSpPr/>
          <p:nvPr/>
        </p:nvSpPr>
        <p:spPr>
          <a:xfrm>
            <a:off x="793790" y="3641407"/>
            <a:ext cx="2845594" cy="7086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233939"/>
              </a:buClr>
              <a:buSzPts val="2200"/>
              <a:buFont typeface="Syne"/>
              <a:buNone/>
            </a:pPr>
            <a:r>
              <a:rPr b="1" i="0" lang="en-US" sz="2200" u="none" cap="none" strike="noStrike">
                <a:solidFill>
                  <a:srgbClr val="233939"/>
                </a:solidFill>
              </a:rPr>
              <a:t>Time-Consuming Planning</a:t>
            </a:r>
            <a:endParaRPr i="0" sz="2200" u="none" cap="none" strike="noStrike"/>
          </a:p>
        </p:txBody>
      </p:sp>
      <p:sp>
        <p:nvSpPr>
          <p:cNvPr id="71" name="Google Shape;71;p15"/>
          <p:cNvSpPr/>
          <p:nvPr/>
        </p:nvSpPr>
        <p:spPr>
          <a:xfrm>
            <a:off x="793790" y="4576882"/>
            <a:ext cx="2845594" cy="14516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3B4E4E"/>
              </a:buClr>
              <a:buSzPts val="1750"/>
              <a:buFont typeface="Overpass Light"/>
              <a:buNone/>
            </a:pPr>
            <a:r>
              <a:rPr b="0" i="0" lang="en-US" sz="1750" u="none" cap="none" strike="noStrike">
                <a:solidFill>
                  <a:srgbClr val="3B4E4E"/>
                </a:solidFill>
                <a:latin typeface="Overpass Light"/>
                <a:ea typeface="Overpass Light"/>
                <a:cs typeface="Overpass Light"/>
                <a:sym typeface="Overpass Light"/>
              </a:rPr>
              <a:t>Trip planning is difficult, requiring multiple unreliable sources and word-of-mouth recommendations.</a:t>
            </a:r>
            <a:endParaRPr b="0" i="0" sz="1750" u="none" cap="none" strike="noStrike"/>
          </a:p>
        </p:txBody>
      </p:sp>
      <p:sp>
        <p:nvSpPr>
          <p:cNvPr id="72" name="Google Shape;72;p15"/>
          <p:cNvSpPr/>
          <p:nvPr/>
        </p:nvSpPr>
        <p:spPr>
          <a:xfrm>
            <a:off x="4200406" y="3641407"/>
            <a:ext cx="2845594" cy="7086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233939"/>
              </a:buClr>
              <a:buSzPts val="2200"/>
              <a:buFont typeface="Syne"/>
              <a:buNone/>
            </a:pPr>
            <a:r>
              <a:rPr b="1" lang="en-US" sz="2200">
                <a:solidFill>
                  <a:srgbClr val="233939"/>
                </a:solidFill>
              </a:rPr>
              <a:t>Unexpected</a:t>
            </a:r>
            <a:r>
              <a:rPr b="1" lang="en-US" sz="2200">
                <a:solidFill>
                  <a:srgbClr val="233939"/>
                </a:solidFill>
              </a:rPr>
              <a:t> </a:t>
            </a:r>
            <a:r>
              <a:rPr b="1" i="0" lang="en-US" sz="2200" u="none" cap="none" strike="noStrike">
                <a:solidFill>
                  <a:srgbClr val="233939"/>
                </a:solidFill>
              </a:rPr>
              <a:t> Trail Issues</a:t>
            </a:r>
            <a:endParaRPr i="0" sz="2200" u="none" cap="none" strike="noStrike"/>
          </a:p>
        </p:txBody>
      </p:sp>
      <p:sp>
        <p:nvSpPr>
          <p:cNvPr id="73" name="Google Shape;73;p15"/>
          <p:cNvSpPr/>
          <p:nvPr/>
        </p:nvSpPr>
        <p:spPr>
          <a:xfrm>
            <a:off x="4200406" y="4576882"/>
            <a:ext cx="2845594" cy="18145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3B4E4E"/>
              </a:buClr>
              <a:buSzPts val="1750"/>
              <a:buFont typeface="Overpass Light"/>
              <a:buNone/>
            </a:pPr>
            <a:r>
              <a:rPr b="0" i="0" lang="en-US" sz="1750" u="none" cap="none" strike="noStrike">
                <a:solidFill>
                  <a:srgbClr val="3B4E4E"/>
                </a:solidFill>
                <a:latin typeface="Overpass Light"/>
                <a:ea typeface="Overpass Light"/>
                <a:cs typeface="Overpass Light"/>
                <a:sym typeface="Overpass Light"/>
              </a:rPr>
              <a:t>Hikers face obstacles like hazardous terrain, overgrown vegetation, or dangerous water crossings and rockslides. </a:t>
            </a:r>
            <a:endParaRPr b="0" i="0" sz="1750" u="none" cap="none" strike="noStrike"/>
          </a:p>
        </p:txBody>
      </p:sp>
      <p:sp>
        <p:nvSpPr>
          <p:cNvPr id="74" name="Google Shape;74;p15"/>
          <p:cNvSpPr/>
          <p:nvPr/>
        </p:nvSpPr>
        <p:spPr>
          <a:xfrm>
            <a:off x="7607025" y="3641400"/>
            <a:ext cx="2533800" cy="70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233939"/>
              </a:buClr>
              <a:buSzPts val="2200"/>
              <a:buFont typeface="Syne"/>
              <a:buNone/>
            </a:pPr>
            <a:r>
              <a:rPr b="1" i="0" lang="en-US" sz="2200" u="none" cap="none" strike="noStrike">
                <a:solidFill>
                  <a:srgbClr val="233939"/>
                </a:solidFill>
              </a:rPr>
              <a:t>Equipment Hassles</a:t>
            </a:r>
            <a:endParaRPr i="0" sz="2200" u="none" cap="none" strike="noStrike"/>
          </a:p>
        </p:txBody>
      </p:sp>
      <p:sp>
        <p:nvSpPr>
          <p:cNvPr id="75" name="Google Shape;75;p15"/>
          <p:cNvSpPr/>
          <p:nvPr/>
        </p:nvSpPr>
        <p:spPr>
          <a:xfrm>
            <a:off x="7607022" y="4576882"/>
            <a:ext cx="2845594" cy="10887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3B4E4E"/>
              </a:buClr>
              <a:buSzPts val="1750"/>
              <a:buFont typeface="Overpass Light"/>
              <a:buNone/>
            </a:pPr>
            <a:r>
              <a:rPr b="0" i="0" lang="en-US" sz="1750" u="none" cap="none" strike="noStrike">
                <a:solidFill>
                  <a:srgbClr val="3B4E4E"/>
                </a:solidFill>
                <a:latin typeface="Overpass Light"/>
                <a:ea typeface="Overpass Light"/>
                <a:cs typeface="Overpass Light"/>
                <a:sym typeface="Overpass Light"/>
              </a:rPr>
              <a:t>Organizing gear is tricky, leading to forgotten essentials or overpacking.</a:t>
            </a:r>
            <a:endParaRPr b="0" i="0" sz="1750" u="none" cap="none" strike="noStrike"/>
          </a:p>
        </p:txBody>
      </p:sp>
      <p:sp>
        <p:nvSpPr>
          <p:cNvPr id="76" name="Google Shape;76;p15"/>
          <p:cNvSpPr/>
          <p:nvPr/>
        </p:nvSpPr>
        <p:spPr>
          <a:xfrm>
            <a:off x="11013638" y="3641407"/>
            <a:ext cx="2845594" cy="7086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233939"/>
              </a:buClr>
              <a:buSzPts val="2200"/>
              <a:buFont typeface="Syne"/>
              <a:buNone/>
            </a:pPr>
            <a:r>
              <a:rPr b="1" i="0" lang="en-US" sz="2200" u="none" cap="none" strike="noStrike">
                <a:solidFill>
                  <a:srgbClr val="233939"/>
                </a:solidFill>
              </a:rPr>
              <a:t>Navigation and Weather</a:t>
            </a:r>
            <a:endParaRPr i="0" sz="2200" u="none" cap="none" strike="noStrike"/>
          </a:p>
        </p:txBody>
      </p:sp>
      <p:sp>
        <p:nvSpPr>
          <p:cNvPr id="77" name="Google Shape;77;p15"/>
          <p:cNvSpPr/>
          <p:nvPr/>
        </p:nvSpPr>
        <p:spPr>
          <a:xfrm>
            <a:off x="11013638" y="4576882"/>
            <a:ext cx="2845594" cy="18145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3B4E4E"/>
              </a:buClr>
              <a:buSzPts val="1750"/>
              <a:buFont typeface="Overpass Light"/>
              <a:buNone/>
            </a:pPr>
            <a:r>
              <a:rPr b="0" i="0" lang="en-US" sz="1750" u="none" cap="none" strike="noStrike">
                <a:solidFill>
                  <a:srgbClr val="3B4E4E"/>
                </a:solidFill>
                <a:latin typeface="Overpass Light"/>
                <a:ea typeface="Overpass Light"/>
                <a:cs typeface="Overpass Light"/>
                <a:sym typeface="Overpass Light"/>
              </a:rPr>
              <a:t>Navigating trails and dealing with sudden weather changes make hikes stressful and less enjoyable.</a:t>
            </a:r>
            <a:endParaRPr b="0" i="0" sz="1750" u="none" cap="none" strike="noStrike"/>
          </a:p>
        </p:txBody>
      </p:sp>
      <p:pic>
        <p:nvPicPr>
          <p:cNvPr id="78" name="Google Shape;78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411075" y="7705720"/>
            <a:ext cx="2219325" cy="523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84" name="Google Shape;84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144000" y="0"/>
            <a:ext cx="5486400" cy="82296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6"/>
          <p:cNvSpPr/>
          <p:nvPr/>
        </p:nvSpPr>
        <p:spPr>
          <a:xfrm>
            <a:off x="793800" y="811874"/>
            <a:ext cx="7556400" cy="230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4719"/>
              </a:lnSpc>
              <a:spcBef>
                <a:spcPts val="0"/>
              </a:spcBef>
              <a:spcAft>
                <a:spcPts val="0"/>
              </a:spcAft>
              <a:buClr>
                <a:srgbClr val="233939"/>
              </a:buClr>
              <a:buSzPts val="4450"/>
              <a:buFont typeface="Syne"/>
              <a:buNone/>
            </a:pPr>
            <a:r>
              <a:rPr b="1" lang="en-US" sz="4000">
                <a:solidFill>
                  <a:srgbClr val="233939"/>
                </a:solidFill>
              </a:rPr>
              <a:t>Literature</a:t>
            </a:r>
            <a:r>
              <a:rPr b="1" lang="en-US" sz="4000">
                <a:solidFill>
                  <a:srgbClr val="233939"/>
                </a:solidFill>
              </a:rPr>
              <a:t> Review</a:t>
            </a:r>
            <a:br>
              <a:rPr b="1" lang="en-US" sz="4450">
                <a:solidFill>
                  <a:srgbClr val="233939"/>
                </a:solidFill>
                <a:latin typeface="Syne"/>
                <a:ea typeface="Syne"/>
                <a:cs typeface="Syne"/>
                <a:sym typeface="Syne"/>
              </a:rPr>
            </a:br>
            <a:r>
              <a:rPr b="1" lang="en-US" sz="4450">
                <a:solidFill>
                  <a:srgbClr val="233939"/>
                </a:solidFill>
                <a:latin typeface="Syne"/>
                <a:ea typeface="Syne"/>
                <a:cs typeface="Syne"/>
                <a:sym typeface="Syne"/>
              </a:rPr>
              <a:t> </a:t>
            </a:r>
            <a:br>
              <a:rPr b="1" lang="en-US" sz="4450">
                <a:solidFill>
                  <a:srgbClr val="233939"/>
                </a:solidFill>
                <a:latin typeface="Syne"/>
                <a:ea typeface="Syne"/>
                <a:cs typeface="Syne"/>
                <a:sym typeface="Syne"/>
              </a:rPr>
            </a:br>
            <a:r>
              <a:rPr b="1" i="0" lang="en-US" sz="3500" u="none" cap="none" strike="noStrike">
                <a:solidFill>
                  <a:srgbClr val="233939"/>
                </a:solidFill>
              </a:rPr>
              <a:t>Matching Algorithms:</a:t>
            </a:r>
            <a:endParaRPr i="0" sz="3500" u="none" cap="none" strike="noStrike"/>
          </a:p>
        </p:txBody>
      </p:sp>
      <p:sp>
        <p:nvSpPr>
          <p:cNvPr id="86" name="Google Shape;86;p16"/>
          <p:cNvSpPr/>
          <p:nvPr/>
        </p:nvSpPr>
        <p:spPr>
          <a:xfrm>
            <a:off x="793703" y="3447362"/>
            <a:ext cx="510300" cy="510300"/>
          </a:xfrm>
          <a:prstGeom prst="roundRect">
            <a:avLst>
              <a:gd fmla="val 18669" name="adj"/>
            </a:avLst>
          </a:prstGeom>
          <a:solidFill>
            <a:srgbClr val="DDEEE6"/>
          </a:solidFill>
          <a:ln cap="flat" cmpd="sng" w="9525">
            <a:solidFill>
              <a:srgbClr val="C3D4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6"/>
          <p:cNvSpPr/>
          <p:nvPr/>
        </p:nvSpPr>
        <p:spPr>
          <a:xfrm>
            <a:off x="953692" y="3532398"/>
            <a:ext cx="132900" cy="34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B4E4E"/>
              </a:buClr>
              <a:buSzPts val="2650"/>
              <a:buFont typeface="Syne"/>
              <a:buNone/>
            </a:pPr>
            <a:r>
              <a:rPr b="1" lang="en-US" sz="2650">
                <a:solidFill>
                  <a:srgbClr val="3B4E4E"/>
                </a:solidFill>
              </a:rPr>
              <a:t>1</a:t>
            </a:r>
            <a:endParaRPr i="0" sz="2650" u="none" cap="none" strike="noStrike"/>
          </a:p>
        </p:txBody>
      </p:sp>
      <p:sp>
        <p:nvSpPr>
          <p:cNvPr id="88" name="Google Shape;88;p16"/>
          <p:cNvSpPr/>
          <p:nvPr/>
        </p:nvSpPr>
        <p:spPr>
          <a:xfrm>
            <a:off x="1530843" y="3447362"/>
            <a:ext cx="2927700" cy="70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3B4E4E"/>
              </a:buClr>
              <a:buSzPts val="2200"/>
              <a:buFont typeface="Syne"/>
              <a:buNone/>
            </a:pPr>
            <a:r>
              <a:rPr b="1" i="0" lang="en-US" sz="2200" u="none" cap="none" strike="noStrike">
                <a:solidFill>
                  <a:srgbClr val="3B4E4E"/>
                </a:solidFill>
              </a:rPr>
              <a:t>Collaborative Filtering</a:t>
            </a:r>
            <a:endParaRPr i="0" sz="2200" u="none" cap="none" strike="noStrike"/>
          </a:p>
        </p:txBody>
      </p:sp>
      <p:sp>
        <p:nvSpPr>
          <p:cNvPr id="89" name="Google Shape;89;p16"/>
          <p:cNvSpPr/>
          <p:nvPr/>
        </p:nvSpPr>
        <p:spPr>
          <a:xfrm>
            <a:off x="1530906" y="4378285"/>
            <a:ext cx="2927747" cy="14516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3B4E4E"/>
              </a:buClr>
              <a:buSzPts val="1750"/>
              <a:buFont typeface="Overpass Light"/>
              <a:buNone/>
            </a:pPr>
            <a:r>
              <a:rPr b="1" i="0" lang="en-US" sz="1750" u="none" cap="none" strike="noStrike">
                <a:solidFill>
                  <a:srgbClr val="3B4E4E"/>
                </a:solidFill>
                <a:latin typeface="Overpass"/>
                <a:ea typeface="Overpass"/>
                <a:cs typeface="Overpass"/>
                <a:sym typeface="Overpass"/>
              </a:rPr>
              <a:t>User-Based</a:t>
            </a:r>
            <a:r>
              <a:rPr b="0" i="0" lang="en-US" sz="1750" u="none" cap="none" strike="noStrike">
                <a:solidFill>
                  <a:srgbClr val="3B4E4E"/>
                </a:solidFill>
                <a:latin typeface="Overpass Light"/>
                <a:ea typeface="Overpass Light"/>
                <a:cs typeface="Overpass Light"/>
                <a:sym typeface="Overpass Light"/>
              </a:rPr>
              <a:t>: Finds other users with similar hiking preferences and suggests routes they liked.</a:t>
            </a:r>
            <a:endParaRPr b="0" i="0" sz="1750" u="none" cap="none" strike="noStrike"/>
          </a:p>
        </p:txBody>
      </p:sp>
      <p:sp>
        <p:nvSpPr>
          <p:cNvPr id="90" name="Google Shape;90;p16"/>
          <p:cNvSpPr/>
          <p:nvPr/>
        </p:nvSpPr>
        <p:spPr>
          <a:xfrm>
            <a:off x="1530843" y="6138334"/>
            <a:ext cx="2927700" cy="145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3B4E4E"/>
              </a:buClr>
              <a:buSzPts val="1750"/>
              <a:buFont typeface="Overpass Light"/>
              <a:buNone/>
            </a:pPr>
            <a:r>
              <a:rPr b="1" i="0" lang="en-US" sz="1750" u="none" cap="none" strike="noStrike">
                <a:solidFill>
                  <a:srgbClr val="3B4E4E"/>
                </a:solidFill>
                <a:latin typeface="Overpass"/>
                <a:ea typeface="Overpass"/>
                <a:cs typeface="Overpass"/>
                <a:sym typeface="Overpass"/>
              </a:rPr>
              <a:t>Item-Based</a:t>
            </a:r>
            <a:r>
              <a:rPr b="1" i="0" lang="en-US" sz="1750" u="none" cap="none" strike="noStrike">
                <a:solidFill>
                  <a:srgbClr val="3B4E4E"/>
                </a:solidFill>
                <a:latin typeface="Overpass"/>
                <a:ea typeface="Overpass"/>
                <a:cs typeface="Overpass"/>
                <a:sym typeface="Overpass"/>
              </a:rPr>
              <a:t>:</a:t>
            </a:r>
            <a:r>
              <a:rPr b="0" i="0" lang="en-US" sz="1750" u="none" cap="none" strike="noStrike">
                <a:solidFill>
                  <a:srgbClr val="3B4E4E"/>
                </a:solidFill>
                <a:latin typeface="Overpass Light"/>
                <a:ea typeface="Overpass Light"/>
                <a:cs typeface="Overpass Light"/>
                <a:sym typeface="Overpass Light"/>
              </a:rPr>
              <a:t> Compares routes the user has enjoyed and recommends similar ones.</a:t>
            </a:r>
            <a:endParaRPr b="0" i="0" sz="1750" u="none" cap="none" strike="noStrike"/>
          </a:p>
        </p:txBody>
      </p:sp>
      <p:sp>
        <p:nvSpPr>
          <p:cNvPr id="91" name="Google Shape;91;p16"/>
          <p:cNvSpPr/>
          <p:nvPr/>
        </p:nvSpPr>
        <p:spPr>
          <a:xfrm>
            <a:off x="4685405" y="3447362"/>
            <a:ext cx="510300" cy="510300"/>
          </a:xfrm>
          <a:prstGeom prst="roundRect">
            <a:avLst>
              <a:gd fmla="val 18669" name="adj"/>
            </a:avLst>
          </a:prstGeom>
          <a:solidFill>
            <a:srgbClr val="DDEEE6"/>
          </a:solidFill>
          <a:ln cap="flat" cmpd="sng" w="9525">
            <a:solidFill>
              <a:srgbClr val="C3D4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16"/>
          <p:cNvSpPr/>
          <p:nvPr/>
        </p:nvSpPr>
        <p:spPr>
          <a:xfrm>
            <a:off x="4834339" y="3503673"/>
            <a:ext cx="212400" cy="34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B4E4E"/>
              </a:buClr>
              <a:buSzPts val="2650"/>
              <a:buFont typeface="Syne"/>
              <a:buNone/>
            </a:pPr>
            <a:r>
              <a:rPr b="1" i="0" lang="en-US" sz="2650" u="none" cap="none" strike="noStrike">
                <a:solidFill>
                  <a:srgbClr val="3B4E4E"/>
                </a:solidFill>
              </a:rPr>
              <a:t>2</a:t>
            </a:r>
            <a:endParaRPr i="0" sz="2650" u="none" cap="none" strike="noStrike"/>
          </a:p>
        </p:txBody>
      </p:sp>
      <p:sp>
        <p:nvSpPr>
          <p:cNvPr id="93" name="Google Shape;93;p16"/>
          <p:cNvSpPr/>
          <p:nvPr/>
        </p:nvSpPr>
        <p:spPr>
          <a:xfrm>
            <a:off x="5422521" y="3447362"/>
            <a:ext cx="2927700" cy="70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3B4E4E"/>
              </a:buClr>
              <a:buSzPts val="2200"/>
              <a:buFont typeface="Syne"/>
              <a:buNone/>
            </a:pPr>
            <a:r>
              <a:rPr b="1" i="0" lang="en-US" sz="2200" u="none" cap="none" strike="noStrike">
                <a:solidFill>
                  <a:srgbClr val="3B4E4E"/>
                </a:solidFill>
              </a:rPr>
              <a:t>Content-Based Filtering</a:t>
            </a:r>
            <a:endParaRPr i="0" sz="2200" u="none" cap="none" strike="noStrike"/>
          </a:p>
        </p:txBody>
      </p:sp>
      <p:sp>
        <p:nvSpPr>
          <p:cNvPr id="94" name="Google Shape;94;p16"/>
          <p:cNvSpPr/>
          <p:nvPr/>
        </p:nvSpPr>
        <p:spPr>
          <a:xfrm>
            <a:off x="5422583" y="4378285"/>
            <a:ext cx="2927747" cy="14516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3B4E4E"/>
              </a:buClr>
              <a:buSzPts val="1750"/>
              <a:buFont typeface="Overpass Light"/>
              <a:buNone/>
            </a:pPr>
            <a:r>
              <a:rPr b="1" i="0" lang="en-US" sz="1750" u="none" cap="none" strike="noStrike">
                <a:solidFill>
                  <a:srgbClr val="3B4E4E"/>
                </a:solidFill>
                <a:latin typeface="Overpass"/>
                <a:ea typeface="Overpass"/>
                <a:cs typeface="Overpass"/>
                <a:sym typeface="Overpass"/>
              </a:rPr>
              <a:t>Routes-Based: </a:t>
            </a:r>
            <a:r>
              <a:rPr b="0" i="0" lang="en-US" sz="1750" u="none" cap="none" strike="noStrike">
                <a:solidFill>
                  <a:srgbClr val="3B4E4E"/>
                </a:solidFill>
                <a:latin typeface="Overpass Light"/>
                <a:ea typeface="Overpass Light"/>
                <a:cs typeface="Overpass Light"/>
                <a:sym typeface="Overpass Light"/>
              </a:rPr>
              <a:t>Analyzes route attributes like difficulty, length, terrain, and points of interest.</a:t>
            </a:r>
            <a:endParaRPr b="0" i="0" sz="1750" u="none" cap="none" strike="noStrike"/>
          </a:p>
        </p:txBody>
      </p:sp>
      <p:sp>
        <p:nvSpPr>
          <p:cNvPr id="95" name="Google Shape;95;p16"/>
          <p:cNvSpPr/>
          <p:nvPr/>
        </p:nvSpPr>
        <p:spPr>
          <a:xfrm>
            <a:off x="5422521" y="6138334"/>
            <a:ext cx="2927700" cy="108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3B4E4E"/>
              </a:buClr>
              <a:buSzPts val="1750"/>
              <a:buFont typeface="Overpass Light"/>
              <a:buNone/>
            </a:pPr>
            <a:r>
              <a:rPr b="1" i="0" lang="en-US" sz="1750" u="none" cap="none" strike="noStrike">
                <a:solidFill>
                  <a:srgbClr val="3B4E4E"/>
                </a:solidFill>
                <a:latin typeface="Overpass"/>
                <a:ea typeface="Overpass"/>
                <a:cs typeface="Overpass"/>
                <a:sym typeface="Overpass"/>
              </a:rPr>
              <a:t>Users-Based:</a:t>
            </a:r>
            <a:r>
              <a:rPr b="1" i="0" lang="en-US" sz="1750" u="none" cap="none" strike="noStrike">
                <a:solidFill>
                  <a:srgbClr val="3B4E4E"/>
                </a:solidFill>
                <a:latin typeface="Overpass Light"/>
                <a:ea typeface="Overpass Light"/>
                <a:cs typeface="Overpass Light"/>
                <a:sym typeface="Overpass Light"/>
              </a:rPr>
              <a:t> </a:t>
            </a:r>
            <a:r>
              <a:rPr b="0" i="0" lang="en-US" sz="1750" u="none" cap="none" strike="noStrike">
                <a:solidFill>
                  <a:srgbClr val="3B4E4E"/>
                </a:solidFill>
                <a:latin typeface="Overpass Light"/>
                <a:ea typeface="Overpass Light"/>
                <a:cs typeface="Overpass Light"/>
                <a:sym typeface="Overpass Light"/>
              </a:rPr>
              <a:t>Builds a user profile based on preferences and past hikes.</a:t>
            </a:r>
            <a:endParaRPr b="0" i="0" sz="1750" u="none" cap="none" strike="noStrike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7"/>
          <p:cNvSpPr/>
          <p:nvPr/>
        </p:nvSpPr>
        <p:spPr>
          <a:xfrm>
            <a:off x="923665" y="806221"/>
            <a:ext cx="11062200" cy="70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4719"/>
              </a:lnSpc>
              <a:spcBef>
                <a:spcPts val="0"/>
              </a:spcBef>
              <a:spcAft>
                <a:spcPts val="0"/>
              </a:spcAft>
              <a:buClr>
                <a:srgbClr val="233939"/>
              </a:buClr>
              <a:buSzPts val="4450"/>
              <a:buFont typeface="Syne"/>
              <a:buNone/>
            </a:pPr>
            <a:r>
              <a:rPr b="1" i="0" lang="en-US" sz="4000" u="none" cap="none" strike="noStrike">
                <a:solidFill>
                  <a:srgbClr val="233939"/>
                </a:solidFill>
              </a:rPr>
              <a:t>How the Matching Algorithm Works</a:t>
            </a:r>
            <a:endParaRPr i="0" sz="4000" u="none" cap="none" strike="noStrike"/>
          </a:p>
        </p:txBody>
      </p:sp>
      <p:sp>
        <p:nvSpPr>
          <p:cNvPr id="102" name="Google Shape;102;p17"/>
          <p:cNvSpPr/>
          <p:nvPr/>
        </p:nvSpPr>
        <p:spPr>
          <a:xfrm>
            <a:off x="923665" y="2360003"/>
            <a:ext cx="13042800" cy="72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3B4E4E"/>
              </a:buClr>
              <a:buSzPts val="1750"/>
              <a:buFont typeface="Overpass Light"/>
              <a:buNone/>
            </a:pPr>
            <a:r>
              <a:rPr b="1" i="0" lang="en-US" sz="1750" u="none" cap="none" strike="noStrike">
                <a:solidFill>
                  <a:srgbClr val="3B4E4E"/>
                </a:solidFill>
                <a:latin typeface="Overpass"/>
                <a:ea typeface="Overpass"/>
                <a:cs typeface="Overpass"/>
                <a:sym typeface="Overpass"/>
              </a:rPr>
              <a:t>User Data Collection</a:t>
            </a:r>
            <a:r>
              <a:rPr b="1" i="0" lang="en-US" sz="1750" u="none" cap="none" strike="noStrike">
                <a:solidFill>
                  <a:srgbClr val="3B4E4E"/>
                </a:solidFill>
                <a:latin typeface="Overpass"/>
                <a:ea typeface="Overpass"/>
                <a:cs typeface="Overpass"/>
                <a:sym typeface="Overpass"/>
              </a:rPr>
              <a:t>: </a:t>
            </a:r>
            <a:r>
              <a:rPr b="0" i="0" lang="en-US" sz="1750" u="none" cap="none" strike="noStrike">
                <a:solidFill>
                  <a:srgbClr val="3B4E4E"/>
                </a:solidFill>
                <a:latin typeface="Overpass Light"/>
                <a:ea typeface="Overpass Light"/>
                <a:cs typeface="Overpass Light"/>
                <a:sym typeface="Overpass Light"/>
              </a:rPr>
              <a:t>Gather data from the user's profile (preferences, hiking history) and real-time conditions (weather, trail status).</a:t>
            </a:r>
            <a:endParaRPr b="0" i="0" sz="1750" u="none" cap="none" strike="noStrike"/>
          </a:p>
        </p:txBody>
      </p:sp>
      <p:sp>
        <p:nvSpPr>
          <p:cNvPr id="103" name="Google Shape;103;p17"/>
          <p:cNvSpPr/>
          <p:nvPr/>
        </p:nvSpPr>
        <p:spPr>
          <a:xfrm>
            <a:off x="923665" y="3076978"/>
            <a:ext cx="13042800" cy="72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3B4E4E"/>
              </a:buClr>
              <a:buSzPts val="1750"/>
              <a:buFont typeface="Overpass Light"/>
              <a:buNone/>
            </a:pPr>
            <a:r>
              <a:rPr b="1" i="0" lang="en-US" sz="1750" u="none" cap="none" strike="noStrike">
                <a:solidFill>
                  <a:srgbClr val="3B4E4E"/>
                </a:solidFill>
                <a:latin typeface="Overpass"/>
                <a:ea typeface="Overpass"/>
                <a:cs typeface="Overpass"/>
                <a:sym typeface="Overpass"/>
              </a:rPr>
              <a:t>Collaborative Filtering</a:t>
            </a:r>
            <a:r>
              <a:rPr b="1" i="0" lang="en-US" sz="1750" u="none" cap="none" strike="noStrike">
                <a:solidFill>
                  <a:srgbClr val="3B4E4E"/>
                </a:solidFill>
                <a:latin typeface="Overpass"/>
                <a:ea typeface="Overpass"/>
                <a:cs typeface="Overpass"/>
                <a:sym typeface="Overpass"/>
              </a:rPr>
              <a:t>:</a:t>
            </a:r>
            <a:r>
              <a:rPr b="0" i="0" lang="en-US" sz="1750" u="none" cap="none" strike="noStrike">
                <a:solidFill>
                  <a:srgbClr val="3B4E4E"/>
                </a:solidFill>
                <a:latin typeface="Overpass Light"/>
                <a:ea typeface="Overpass Light"/>
                <a:cs typeface="Overpass Light"/>
                <a:sym typeface="Overpass Light"/>
              </a:rPr>
              <a:t> Compare the user’s preferences with similar users (User-Based) or past routes (Item-Based) to suggest routes.</a:t>
            </a:r>
            <a:endParaRPr b="0" i="0" sz="1750" u="none" cap="none" strike="noStrike"/>
          </a:p>
        </p:txBody>
      </p:sp>
      <p:sp>
        <p:nvSpPr>
          <p:cNvPr id="104" name="Google Shape;104;p17"/>
          <p:cNvSpPr/>
          <p:nvPr/>
        </p:nvSpPr>
        <p:spPr>
          <a:xfrm>
            <a:off x="923665" y="4022592"/>
            <a:ext cx="13042800" cy="36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3B4E4E"/>
              </a:buClr>
              <a:buSzPts val="1750"/>
              <a:buFont typeface="Overpass Light"/>
              <a:buNone/>
            </a:pPr>
            <a:r>
              <a:rPr b="1" i="0" lang="en-US" sz="1750" u="none" cap="none" strike="noStrike">
                <a:solidFill>
                  <a:srgbClr val="3B4E4E"/>
                </a:solidFill>
                <a:latin typeface="Overpass"/>
                <a:ea typeface="Overpass"/>
                <a:cs typeface="Overpass"/>
                <a:sym typeface="Overpass"/>
              </a:rPr>
              <a:t>Content-Based Filtering</a:t>
            </a:r>
            <a:r>
              <a:rPr b="1" i="0" lang="en-US" sz="1750" u="none" cap="none" strike="noStrike">
                <a:solidFill>
                  <a:srgbClr val="3B4E4E"/>
                </a:solidFill>
                <a:latin typeface="Overpass"/>
                <a:ea typeface="Overpass"/>
                <a:cs typeface="Overpass"/>
                <a:sym typeface="Overpass"/>
              </a:rPr>
              <a:t>:</a:t>
            </a:r>
            <a:r>
              <a:rPr b="0" i="0" lang="en-US" sz="1750" u="none" cap="none" strike="noStrike">
                <a:solidFill>
                  <a:srgbClr val="3B4E4E"/>
                </a:solidFill>
                <a:latin typeface="Overpass Light"/>
                <a:ea typeface="Overpass Light"/>
                <a:cs typeface="Overpass Light"/>
                <a:sym typeface="Overpass Light"/>
              </a:rPr>
              <a:t> Match routes based on user preferences (difficulty, terrain, length) and past activity.</a:t>
            </a:r>
            <a:endParaRPr b="0" i="0" sz="1750" u="none" cap="none" strike="noStrike"/>
          </a:p>
        </p:txBody>
      </p:sp>
      <p:sp>
        <p:nvSpPr>
          <p:cNvPr id="105" name="Google Shape;105;p17"/>
          <p:cNvSpPr/>
          <p:nvPr/>
        </p:nvSpPr>
        <p:spPr>
          <a:xfrm>
            <a:off x="923665" y="4605502"/>
            <a:ext cx="13042800" cy="36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3B4E4E"/>
              </a:buClr>
              <a:buSzPts val="1750"/>
              <a:buFont typeface="Overpass Light"/>
              <a:buNone/>
            </a:pPr>
            <a:r>
              <a:rPr b="1" i="0" lang="en-US" sz="1750" u="none" cap="none" strike="noStrike">
                <a:solidFill>
                  <a:srgbClr val="3B4E4E"/>
                </a:solidFill>
                <a:latin typeface="Overpass"/>
                <a:ea typeface="Overpass"/>
                <a:cs typeface="Overpass"/>
                <a:sym typeface="Overpass"/>
              </a:rPr>
              <a:t>Hybrid Approach</a:t>
            </a:r>
            <a:r>
              <a:rPr b="1" i="0" lang="en-US" sz="1750" u="none" cap="none" strike="noStrike">
                <a:solidFill>
                  <a:srgbClr val="3B4E4E"/>
                </a:solidFill>
                <a:latin typeface="Overpass"/>
                <a:ea typeface="Overpass"/>
                <a:cs typeface="Overpass"/>
                <a:sym typeface="Overpass"/>
              </a:rPr>
              <a:t>:</a:t>
            </a:r>
            <a:r>
              <a:rPr b="0" i="0" lang="en-US" sz="1750" u="none" cap="none" strike="noStrike">
                <a:solidFill>
                  <a:srgbClr val="3B4E4E"/>
                </a:solidFill>
                <a:latin typeface="Overpass Light"/>
                <a:ea typeface="Overpass Light"/>
                <a:cs typeface="Overpass Light"/>
                <a:sym typeface="Overpass Light"/>
              </a:rPr>
              <a:t> Combine both filtering methods to improve recommendations.</a:t>
            </a:r>
            <a:endParaRPr b="0" i="0" sz="1750" u="none" cap="none" strike="noStrike"/>
          </a:p>
        </p:txBody>
      </p:sp>
      <p:sp>
        <p:nvSpPr>
          <p:cNvPr id="106" name="Google Shape;106;p17"/>
          <p:cNvSpPr/>
          <p:nvPr/>
        </p:nvSpPr>
        <p:spPr>
          <a:xfrm>
            <a:off x="923665" y="5127650"/>
            <a:ext cx="13042800" cy="36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3B4E4E"/>
              </a:buClr>
              <a:buSzPts val="1750"/>
              <a:buFont typeface="Overpass Light"/>
              <a:buNone/>
            </a:pPr>
            <a:r>
              <a:rPr b="1" i="0" lang="en-US" sz="1750" u="none" cap="none" strike="noStrike">
                <a:solidFill>
                  <a:srgbClr val="3B4E4E"/>
                </a:solidFill>
                <a:latin typeface="Overpass"/>
                <a:ea typeface="Overpass"/>
                <a:cs typeface="Overpass"/>
                <a:sym typeface="Overpass"/>
              </a:rPr>
              <a:t>Recommendation Delivery</a:t>
            </a:r>
            <a:r>
              <a:rPr b="1" i="0" lang="en-US" sz="1750" u="none" cap="none" strike="noStrike">
                <a:solidFill>
                  <a:srgbClr val="3B4E4E"/>
                </a:solidFill>
                <a:latin typeface="Overpass"/>
                <a:ea typeface="Overpass"/>
                <a:cs typeface="Overpass"/>
                <a:sym typeface="Overpass"/>
              </a:rPr>
              <a:t>:</a:t>
            </a:r>
            <a:r>
              <a:rPr b="0" i="0" lang="en-US" sz="1750" u="none" cap="none" strike="noStrike">
                <a:solidFill>
                  <a:srgbClr val="3B4E4E"/>
                </a:solidFill>
                <a:latin typeface="Overpass Light"/>
                <a:ea typeface="Overpass Light"/>
                <a:cs typeface="Overpass Light"/>
                <a:sym typeface="Overpass Light"/>
              </a:rPr>
              <a:t> Suggest the best routes to the user, considering their profile and real-time conditions.</a:t>
            </a:r>
            <a:endParaRPr b="0" i="0" sz="1750" u="none" cap="none" strike="noStrike"/>
          </a:p>
        </p:txBody>
      </p:sp>
      <p:sp>
        <p:nvSpPr>
          <p:cNvPr id="107" name="Google Shape;107;p17"/>
          <p:cNvSpPr/>
          <p:nvPr/>
        </p:nvSpPr>
        <p:spPr>
          <a:xfrm>
            <a:off x="923665" y="5771323"/>
            <a:ext cx="13042800" cy="36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3B4E4E"/>
              </a:buClr>
              <a:buSzPts val="1750"/>
              <a:buFont typeface="Overpass Light"/>
              <a:buNone/>
            </a:pPr>
            <a:r>
              <a:rPr b="1" i="0" lang="en-US" sz="1750" u="none" cap="none" strike="noStrike">
                <a:solidFill>
                  <a:srgbClr val="3B4E4E"/>
                </a:solidFill>
                <a:latin typeface="Overpass"/>
                <a:ea typeface="Overpass"/>
                <a:cs typeface="Overpass"/>
                <a:sym typeface="Overpass"/>
              </a:rPr>
              <a:t>User Feedback</a:t>
            </a:r>
            <a:r>
              <a:rPr b="1" i="0" lang="en-US" sz="1750" u="none" cap="none" strike="noStrike">
                <a:solidFill>
                  <a:srgbClr val="3B4E4E"/>
                </a:solidFill>
                <a:latin typeface="Overpass"/>
                <a:ea typeface="Overpass"/>
                <a:cs typeface="Overpass"/>
                <a:sym typeface="Overpass"/>
              </a:rPr>
              <a:t>:</a:t>
            </a:r>
            <a:r>
              <a:rPr b="0" i="0" lang="en-US" sz="1750" u="none" cap="none" strike="noStrike">
                <a:solidFill>
                  <a:srgbClr val="3B4E4E"/>
                </a:solidFill>
                <a:latin typeface="Overpass Light"/>
                <a:ea typeface="Overpass Light"/>
                <a:cs typeface="Overpass Light"/>
                <a:sym typeface="Overpass Light"/>
              </a:rPr>
              <a:t> Collect feedback to refine future route suggestions and improve accuracy.</a:t>
            </a:r>
            <a:endParaRPr b="0" i="0" sz="1750" u="none" cap="none" strike="noStrike"/>
          </a:p>
        </p:txBody>
      </p:sp>
      <p:pic>
        <p:nvPicPr>
          <p:cNvPr id="108" name="Google Shape;108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411075" y="7705725"/>
            <a:ext cx="2219325" cy="523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8"/>
          <p:cNvSpPr/>
          <p:nvPr/>
        </p:nvSpPr>
        <p:spPr>
          <a:xfrm>
            <a:off x="732115" y="575191"/>
            <a:ext cx="5229939" cy="6537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233939"/>
              </a:buClr>
              <a:buSzPts val="4100"/>
              <a:buFont typeface="Syne"/>
              <a:buNone/>
            </a:pPr>
            <a:r>
              <a:rPr b="1" i="0" lang="en-US" sz="4000" u="none" cap="none" strike="noStrike">
                <a:solidFill>
                  <a:srgbClr val="233939"/>
                </a:solidFill>
              </a:rPr>
              <a:t>Competitors</a:t>
            </a:r>
            <a:endParaRPr i="0" sz="4000" u="none" cap="none" strike="noStrike"/>
          </a:p>
        </p:txBody>
      </p:sp>
      <p:sp>
        <p:nvSpPr>
          <p:cNvPr id="115" name="Google Shape;115;p18"/>
          <p:cNvSpPr/>
          <p:nvPr/>
        </p:nvSpPr>
        <p:spPr>
          <a:xfrm>
            <a:off x="732115" y="1542693"/>
            <a:ext cx="13166169" cy="3346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b="0" i="0" sz="1600" u="none" cap="none" strike="noStrike"/>
          </a:p>
        </p:txBody>
      </p:sp>
      <p:sp>
        <p:nvSpPr>
          <p:cNvPr id="116" name="Google Shape;116;p18"/>
          <p:cNvSpPr/>
          <p:nvPr/>
        </p:nvSpPr>
        <p:spPr>
          <a:xfrm>
            <a:off x="732115" y="2112645"/>
            <a:ext cx="13166169" cy="5552480"/>
          </a:xfrm>
          <a:prstGeom prst="roundRect">
            <a:avLst>
              <a:gd fmla="val 1582" name="adj"/>
            </a:avLst>
          </a:prstGeom>
          <a:noFill/>
          <a:ln cap="flat" cmpd="sng" w="9525">
            <a:solidFill>
              <a:srgbClr val="000000">
                <a:alpha val="7843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18"/>
          <p:cNvSpPr/>
          <p:nvPr/>
        </p:nvSpPr>
        <p:spPr>
          <a:xfrm>
            <a:off x="739735" y="2120265"/>
            <a:ext cx="13150929" cy="593050"/>
          </a:xfrm>
          <a:prstGeom prst="rect">
            <a:avLst/>
          </a:prstGeom>
          <a:solidFill>
            <a:srgbClr val="FFFFFF">
              <a:alpha val="3921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18"/>
          <p:cNvSpPr/>
          <p:nvPr/>
        </p:nvSpPr>
        <p:spPr>
          <a:xfrm>
            <a:off x="949404" y="2253377"/>
            <a:ext cx="2207895" cy="326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233939"/>
              </a:buClr>
              <a:buSzPts val="2050"/>
              <a:buFont typeface="Syne"/>
              <a:buNone/>
            </a:pPr>
            <a:r>
              <a:rPr b="1" i="0" lang="en-US" sz="2050" u="none" cap="none" strike="noStrike">
                <a:solidFill>
                  <a:srgbClr val="233939"/>
                </a:solidFill>
                <a:latin typeface="Syne"/>
                <a:ea typeface="Syne"/>
                <a:cs typeface="Syne"/>
                <a:sym typeface="Syne"/>
              </a:rPr>
              <a:t>Parameter</a:t>
            </a:r>
            <a:endParaRPr b="0" i="0" sz="2050" u="none" cap="none" strike="noStrike"/>
          </a:p>
        </p:txBody>
      </p:sp>
      <p:sp>
        <p:nvSpPr>
          <p:cNvPr id="119" name="Google Shape;119;p18"/>
          <p:cNvSpPr/>
          <p:nvPr/>
        </p:nvSpPr>
        <p:spPr>
          <a:xfrm>
            <a:off x="3583305" y="2253377"/>
            <a:ext cx="2204085" cy="326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233939"/>
              </a:buClr>
              <a:buSzPts val="2050"/>
              <a:buFont typeface="Syne"/>
              <a:buNone/>
            </a:pPr>
            <a:r>
              <a:rPr b="1" i="0" lang="en-US" sz="2050" u="none" cap="none" strike="noStrike">
                <a:solidFill>
                  <a:srgbClr val="233939"/>
                </a:solidFill>
                <a:latin typeface="Syne"/>
                <a:ea typeface="Syne"/>
                <a:cs typeface="Syne"/>
                <a:sym typeface="Syne"/>
              </a:rPr>
              <a:t>Ambulo</a:t>
            </a:r>
            <a:endParaRPr b="0" i="0" sz="2050" u="none" cap="none" strike="noStrike"/>
          </a:p>
        </p:txBody>
      </p:sp>
      <p:sp>
        <p:nvSpPr>
          <p:cNvPr id="120" name="Google Shape;120;p18"/>
          <p:cNvSpPr/>
          <p:nvPr/>
        </p:nvSpPr>
        <p:spPr>
          <a:xfrm>
            <a:off x="6213396" y="2253377"/>
            <a:ext cx="2204085" cy="326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233939"/>
              </a:buClr>
              <a:buSzPts val="2050"/>
              <a:buFont typeface="Syne"/>
              <a:buNone/>
            </a:pPr>
            <a:r>
              <a:rPr b="1" i="0" lang="en-US" sz="2050" u="none" cap="none" strike="noStrike">
                <a:solidFill>
                  <a:srgbClr val="233939"/>
                </a:solidFill>
                <a:latin typeface="Syne"/>
                <a:ea typeface="Syne"/>
                <a:cs typeface="Syne"/>
                <a:sym typeface="Syne"/>
              </a:rPr>
              <a:t>Off Road</a:t>
            </a:r>
            <a:endParaRPr b="0" i="0" sz="2050" u="none" cap="none" strike="noStrike"/>
          </a:p>
        </p:txBody>
      </p:sp>
      <p:sp>
        <p:nvSpPr>
          <p:cNvPr id="121" name="Google Shape;121;p18"/>
          <p:cNvSpPr/>
          <p:nvPr/>
        </p:nvSpPr>
        <p:spPr>
          <a:xfrm>
            <a:off x="8843486" y="2253377"/>
            <a:ext cx="2204085" cy="326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233939"/>
              </a:buClr>
              <a:buSzPts val="2050"/>
              <a:buFont typeface="Syne"/>
              <a:buNone/>
            </a:pPr>
            <a:r>
              <a:rPr b="1" i="0" lang="en-US" sz="2050" u="none" cap="none" strike="noStrike">
                <a:solidFill>
                  <a:srgbClr val="233939"/>
                </a:solidFill>
                <a:latin typeface="Syne"/>
                <a:ea typeface="Syne"/>
                <a:cs typeface="Syne"/>
                <a:sym typeface="Syne"/>
              </a:rPr>
              <a:t>Komoot</a:t>
            </a:r>
            <a:endParaRPr b="0" i="0" sz="2050" u="none" cap="none" strike="noStrike"/>
          </a:p>
        </p:txBody>
      </p:sp>
      <p:sp>
        <p:nvSpPr>
          <p:cNvPr id="122" name="Google Shape;122;p18"/>
          <p:cNvSpPr/>
          <p:nvPr/>
        </p:nvSpPr>
        <p:spPr>
          <a:xfrm>
            <a:off x="11473577" y="2253377"/>
            <a:ext cx="2207895" cy="326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4390"/>
              </a:lnSpc>
              <a:spcBef>
                <a:spcPts val="0"/>
              </a:spcBef>
              <a:spcAft>
                <a:spcPts val="0"/>
              </a:spcAft>
              <a:buClr>
                <a:srgbClr val="233939"/>
              </a:buClr>
              <a:buSzPts val="2050"/>
              <a:buFont typeface="Syne"/>
              <a:buNone/>
            </a:pPr>
            <a:r>
              <a:rPr b="1" i="0" lang="en-US" sz="2050" u="none" cap="none" strike="noStrike">
                <a:solidFill>
                  <a:srgbClr val="233939"/>
                </a:solidFill>
                <a:latin typeface="Syne"/>
                <a:ea typeface="Syne"/>
                <a:cs typeface="Syne"/>
                <a:sym typeface="Syne"/>
              </a:rPr>
              <a:t>AllTrails</a:t>
            </a:r>
            <a:endParaRPr b="0" i="0" sz="2050" u="none" cap="none" strike="noStrike"/>
          </a:p>
        </p:txBody>
      </p:sp>
      <p:sp>
        <p:nvSpPr>
          <p:cNvPr id="123" name="Google Shape;123;p18"/>
          <p:cNvSpPr/>
          <p:nvPr/>
        </p:nvSpPr>
        <p:spPr>
          <a:xfrm>
            <a:off x="739735" y="2713315"/>
            <a:ext cx="13150929" cy="935593"/>
          </a:xfrm>
          <a:prstGeom prst="rect">
            <a:avLst/>
          </a:prstGeom>
          <a:solidFill>
            <a:srgbClr val="000000">
              <a:alpha val="3921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18"/>
          <p:cNvSpPr/>
          <p:nvPr/>
        </p:nvSpPr>
        <p:spPr>
          <a:xfrm>
            <a:off x="949404" y="2846427"/>
            <a:ext cx="2207895" cy="66936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3B4E4E"/>
              </a:buClr>
              <a:buSzPts val="1600"/>
              <a:buFont typeface="Overpass Light"/>
              <a:buNone/>
            </a:pPr>
            <a:r>
              <a:rPr b="0" i="0" lang="en-US" sz="1600" u="none" cap="none" strike="noStrike">
                <a:solidFill>
                  <a:srgbClr val="3B4E4E"/>
                </a:solidFill>
                <a:latin typeface="Overpass Light"/>
                <a:ea typeface="Overpass Light"/>
                <a:cs typeface="Overpass Light"/>
                <a:sym typeface="Overpass Light"/>
              </a:rPr>
              <a:t>Live alerts for complex points</a:t>
            </a:r>
            <a:endParaRPr b="0" i="0" sz="1600" u="none" cap="none" strike="noStrike"/>
          </a:p>
        </p:txBody>
      </p:sp>
      <p:sp>
        <p:nvSpPr>
          <p:cNvPr id="125" name="Google Shape;125;p18"/>
          <p:cNvSpPr/>
          <p:nvPr/>
        </p:nvSpPr>
        <p:spPr>
          <a:xfrm>
            <a:off x="3583305" y="2846427"/>
            <a:ext cx="2204085" cy="3346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1F7135"/>
              </a:buClr>
              <a:buSzPts val="1600"/>
              <a:buFont typeface="Overpass Light"/>
              <a:buNone/>
            </a:pPr>
            <a:r>
              <a:rPr b="1" i="0" lang="en-US" sz="1600" u="none" cap="none" strike="noStrike">
                <a:solidFill>
                  <a:srgbClr val="1F7135"/>
                </a:solidFill>
                <a:latin typeface="Overpass Light"/>
                <a:ea typeface="Overpass Light"/>
                <a:cs typeface="Overpass Light"/>
                <a:sym typeface="Overpass Light"/>
              </a:rPr>
              <a:t>yes</a:t>
            </a:r>
            <a:endParaRPr b="0" i="0" sz="1600" u="none" cap="none" strike="noStrike"/>
          </a:p>
        </p:txBody>
      </p:sp>
      <p:sp>
        <p:nvSpPr>
          <p:cNvPr id="126" name="Google Shape;126;p18"/>
          <p:cNvSpPr/>
          <p:nvPr/>
        </p:nvSpPr>
        <p:spPr>
          <a:xfrm>
            <a:off x="6213396" y="2846427"/>
            <a:ext cx="2204085" cy="3346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F44444"/>
              </a:buClr>
              <a:buSzPts val="1600"/>
              <a:buFont typeface="Overpass Light"/>
              <a:buNone/>
            </a:pPr>
            <a:r>
              <a:rPr b="0" i="0" lang="en-US" sz="1600" u="none" cap="none" strike="noStrike">
                <a:solidFill>
                  <a:srgbClr val="F44444"/>
                </a:solidFill>
                <a:latin typeface="Overpass Light"/>
                <a:ea typeface="Overpass Light"/>
                <a:cs typeface="Overpass Light"/>
                <a:sym typeface="Overpass Light"/>
              </a:rPr>
              <a:t>no</a:t>
            </a:r>
            <a:endParaRPr b="0" i="0" sz="1600" u="none" cap="none" strike="noStrike"/>
          </a:p>
        </p:txBody>
      </p:sp>
      <p:sp>
        <p:nvSpPr>
          <p:cNvPr id="127" name="Google Shape;127;p18"/>
          <p:cNvSpPr/>
          <p:nvPr/>
        </p:nvSpPr>
        <p:spPr>
          <a:xfrm>
            <a:off x="8843486" y="2846427"/>
            <a:ext cx="2204085" cy="3346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F44444"/>
              </a:buClr>
              <a:buSzPts val="1600"/>
              <a:buFont typeface="Overpass Light"/>
              <a:buNone/>
            </a:pPr>
            <a:r>
              <a:rPr b="0" i="0" lang="en-US" sz="1600" u="none" cap="none" strike="noStrike">
                <a:solidFill>
                  <a:srgbClr val="F44444"/>
                </a:solidFill>
                <a:latin typeface="Overpass Light"/>
                <a:ea typeface="Overpass Light"/>
                <a:cs typeface="Overpass Light"/>
                <a:sym typeface="Overpass Light"/>
              </a:rPr>
              <a:t>no</a:t>
            </a:r>
            <a:endParaRPr b="0" i="0" sz="1600" u="none" cap="none" strike="noStrike"/>
          </a:p>
        </p:txBody>
      </p:sp>
      <p:sp>
        <p:nvSpPr>
          <p:cNvPr id="128" name="Google Shape;128;p18"/>
          <p:cNvSpPr/>
          <p:nvPr/>
        </p:nvSpPr>
        <p:spPr>
          <a:xfrm>
            <a:off x="11473577" y="2846427"/>
            <a:ext cx="2207895" cy="3346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F44444"/>
              </a:buClr>
              <a:buSzPts val="1600"/>
              <a:buFont typeface="Overpass Light"/>
              <a:buNone/>
            </a:pPr>
            <a:r>
              <a:rPr b="0" i="0" lang="en-US" sz="1600" u="none" cap="none" strike="noStrike">
                <a:solidFill>
                  <a:srgbClr val="F44444"/>
                </a:solidFill>
                <a:latin typeface="Overpass Light"/>
                <a:ea typeface="Overpass Light"/>
                <a:cs typeface="Overpass Light"/>
                <a:sym typeface="Overpass Light"/>
              </a:rPr>
              <a:t>no</a:t>
            </a:r>
            <a:endParaRPr b="0" i="0" sz="1600" u="none" cap="none" strike="noStrike"/>
          </a:p>
        </p:txBody>
      </p:sp>
      <p:sp>
        <p:nvSpPr>
          <p:cNvPr id="129" name="Google Shape;129;p18"/>
          <p:cNvSpPr/>
          <p:nvPr/>
        </p:nvSpPr>
        <p:spPr>
          <a:xfrm>
            <a:off x="739735" y="3648908"/>
            <a:ext cx="13150929" cy="935593"/>
          </a:xfrm>
          <a:prstGeom prst="rect">
            <a:avLst/>
          </a:prstGeom>
          <a:solidFill>
            <a:srgbClr val="FFFFFF">
              <a:alpha val="3921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18"/>
          <p:cNvSpPr/>
          <p:nvPr/>
        </p:nvSpPr>
        <p:spPr>
          <a:xfrm>
            <a:off x="949404" y="3782020"/>
            <a:ext cx="2207895" cy="66936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3B4E4E"/>
              </a:buClr>
              <a:buSzPts val="1600"/>
              <a:buFont typeface="Overpass Light"/>
              <a:buNone/>
            </a:pPr>
            <a:r>
              <a:rPr b="0" i="0" lang="en-US" sz="1600" u="none" cap="none" strike="noStrike">
                <a:solidFill>
                  <a:srgbClr val="3B4E4E"/>
                </a:solidFill>
                <a:latin typeface="Overpass Light"/>
                <a:ea typeface="Overpass Light"/>
                <a:cs typeface="Overpass Light"/>
                <a:sym typeface="Overpass Light"/>
              </a:rPr>
              <a:t>Customized equipment lists</a:t>
            </a:r>
            <a:endParaRPr b="0" i="0" sz="1600" u="none" cap="none" strike="noStrike"/>
          </a:p>
        </p:txBody>
      </p:sp>
      <p:sp>
        <p:nvSpPr>
          <p:cNvPr id="131" name="Google Shape;131;p18"/>
          <p:cNvSpPr/>
          <p:nvPr/>
        </p:nvSpPr>
        <p:spPr>
          <a:xfrm>
            <a:off x="3583305" y="3782020"/>
            <a:ext cx="2204085" cy="3346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1F7135"/>
              </a:buClr>
              <a:buSzPts val="1600"/>
              <a:buFont typeface="Overpass Light"/>
              <a:buNone/>
            </a:pPr>
            <a:r>
              <a:rPr b="1" i="0" lang="en-US" sz="1600" u="none" cap="none" strike="noStrike">
                <a:solidFill>
                  <a:srgbClr val="1F7135"/>
                </a:solidFill>
                <a:latin typeface="Overpass Light"/>
                <a:ea typeface="Overpass Light"/>
                <a:cs typeface="Overpass Light"/>
                <a:sym typeface="Overpass Light"/>
              </a:rPr>
              <a:t>yes</a:t>
            </a:r>
            <a:endParaRPr b="0" i="0" sz="1600" u="none" cap="none" strike="noStrike"/>
          </a:p>
        </p:txBody>
      </p:sp>
      <p:sp>
        <p:nvSpPr>
          <p:cNvPr id="132" name="Google Shape;132;p18"/>
          <p:cNvSpPr/>
          <p:nvPr/>
        </p:nvSpPr>
        <p:spPr>
          <a:xfrm>
            <a:off x="6213396" y="3782020"/>
            <a:ext cx="2204085" cy="3346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F44444"/>
              </a:buClr>
              <a:buSzPts val="1600"/>
              <a:buFont typeface="Overpass Light"/>
              <a:buNone/>
            </a:pPr>
            <a:r>
              <a:rPr b="0" i="0" lang="en-US" sz="1600" u="none" cap="none" strike="noStrike">
                <a:solidFill>
                  <a:srgbClr val="F44444"/>
                </a:solidFill>
                <a:latin typeface="Overpass Light"/>
                <a:ea typeface="Overpass Light"/>
                <a:cs typeface="Overpass Light"/>
                <a:sym typeface="Overpass Light"/>
              </a:rPr>
              <a:t>no</a:t>
            </a:r>
            <a:endParaRPr b="0" i="0" sz="1600" u="none" cap="none" strike="noStrike"/>
          </a:p>
        </p:txBody>
      </p:sp>
      <p:sp>
        <p:nvSpPr>
          <p:cNvPr id="133" name="Google Shape;133;p18"/>
          <p:cNvSpPr/>
          <p:nvPr/>
        </p:nvSpPr>
        <p:spPr>
          <a:xfrm>
            <a:off x="8843486" y="3782020"/>
            <a:ext cx="2204085" cy="3346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F44444"/>
              </a:buClr>
              <a:buSzPts val="1600"/>
              <a:buFont typeface="Overpass Light"/>
              <a:buNone/>
            </a:pPr>
            <a:r>
              <a:rPr b="0" i="0" lang="en-US" sz="1600" u="none" cap="none" strike="noStrike">
                <a:solidFill>
                  <a:srgbClr val="F44444"/>
                </a:solidFill>
                <a:latin typeface="Overpass Light"/>
                <a:ea typeface="Overpass Light"/>
                <a:cs typeface="Overpass Light"/>
                <a:sym typeface="Overpass Light"/>
              </a:rPr>
              <a:t>no</a:t>
            </a:r>
            <a:endParaRPr b="0" i="0" sz="1600" u="none" cap="none" strike="noStrike"/>
          </a:p>
        </p:txBody>
      </p:sp>
      <p:sp>
        <p:nvSpPr>
          <p:cNvPr id="134" name="Google Shape;134;p18"/>
          <p:cNvSpPr/>
          <p:nvPr/>
        </p:nvSpPr>
        <p:spPr>
          <a:xfrm>
            <a:off x="11473577" y="3782020"/>
            <a:ext cx="2207895" cy="3346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F44444"/>
              </a:buClr>
              <a:buSzPts val="1600"/>
              <a:buFont typeface="Overpass Light"/>
              <a:buNone/>
            </a:pPr>
            <a:r>
              <a:rPr b="0" i="0" lang="en-US" sz="1600" u="none" cap="none" strike="noStrike">
                <a:solidFill>
                  <a:srgbClr val="F44444"/>
                </a:solidFill>
                <a:latin typeface="Overpass Light"/>
                <a:ea typeface="Overpass Light"/>
                <a:cs typeface="Overpass Light"/>
                <a:sym typeface="Overpass Light"/>
              </a:rPr>
              <a:t>no</a:t>
            </a:r>
            <a:endParaRPr b="0" i="0" sz="1600" u="none" cap="none" strike="noStrike"/>
          </a:p>
        </p:txBody>
      </p:sp>
      <p:sp>
        <p:nvSpPr>
          <p:cNvPr id="135" name="Google Shape;135;p18"/>
          <p:cNvSpPr/>
          <p:nvPr/>
        </p:nvSpPr>
        <p:spPr>
          <a:xfrm>
            <a:off x="739735" y="4584502"/>
            <a:ext cx="13150929" cy="935593"/>
          </a:xfrm>
          <a:prstGeom prst="rect">
            <a:avLst/>
          </a:prstGeom>
          <a:solidFill>
            <a:srgbClr val="000000">
              <a:alpha val="3921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" name="Google Shape;136;p18"/>
          <p:cNvSpPr/>
          <p:nvPr/>
        </p:nvSpPr>
        <p:spPr>
          <a:xfrm>
            <a:off x="949404" y="4717613"/>
            <a:ext cx="2207895" cy="66936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3B4E4E"/>
              </a:buClr>
              <a:buSzPts val="1600"/>
              <a:buFont typeface="Overpass Light"/>
              <a:buNone/>
            </a:pPr>
            <a:r>
              <a:rPr b="0" i="0" lang="en-US" sz="1600" u="none" cap="none" strike="noStrike">
                <a:solidFill>
                  <a:srgbClr val="3B4E4E"/>
                </a:solidFill>
                <a:latin typeface="Overpass Light"/>
                <a:ea typeface="Overpass Light"/>
                <a:cs typeface="Overpass Light"/>
                <a:sym typeface="Overpass Light"/>
              </a:rPr>
              <a:t>Official routes (not by the community)</a:t>
            </a:r>
            <a:endParaRPr b="0" i="0" sz="1600" u="none" cap="none" strike="noStrike"/>
          </a:p>
        </p:txBody>
      </p:sp>
      <p:sp>
        <p:nvSpPr>
          <p:cNvPr id="137" name="Google Shape;137;p18"/>
          <p:cNvSpPr/>
          <p:nvPr/>
        </p:nvSpPr>
        <p:spPr>
          <a:xfrm>
            <a:off x="3583305" y="4717613"/>
            <a:ext cx="2204085" cy="3346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1F7135"/>
              </a:buClr>
              <a:buSzPts val="1600"/>
              <a:buFont typeface="Overpass Light"/>
              <a:buNone/>
            </a:pPr>
            <a:r>
              <a:rPr b="1" i="0" lang="en-US" sz="1600" u="none" cap="none" strike="noStrike">
                <a:solidFill>
                  <a:srgbClr val="1F7135"/>
                </a:solidFill>
                <a:latin typeface="Overpass Light"/>
                <a:ea typeface="Overpass Light"/>
                <a:cs typeface="Overpass Light"/>
                <a:sym typeface="Overpass Light"/>
              </a:rPr>
              <a:t>yes</a:t>
            </a:r>
            <a:endParaRPr b="0" i="0" sz="1600" u="none" cap="none" strike="noStrike"/>
          </a:p>
        </p:txBody>
      </p:sp>
      <p:sp>
        <p:nvSpPr>
          <p:cNvPr id="138" name="Google Shape;138;p18"/>
          <p:cNvSpPr/>
          <p:nvPr/>
        </p:nvSpPr>
        <p:spPr>
          <a:xfrm>
            <a:off x="6213396" y="4717613"/>
            <a:ext cx="2204085" cy="3346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F44444"/>
              </a:buClr>
              <a:buSzPts val="1600"/>
              <a:buFont typeface="Overpass Light"/>
              <a:buNone/>
            </a:pPr>
            <a:r>
              <a:rPr b="0" i="0" lang="en-US" sz="1600" u="none" cap="none" strike="noStrike">
                <a:solidFill>
                  <a:srgbClr val="F44444"/>
                </a:solidFill>
                <a:latin typeface="Overpass Light"/>
                <a:ea typeface="Overpass Light"/>
                <a:cs typeface="Overpass Light"/>
                <a:sym typeface="Overpass Light"/>
              </a:rPr>
              <a:t>no</a:t>
            </a:r>
            <a:endParaRPr b="0" i="0" sz="1600" u="none" cap="none" strike="noStrike"/>
          </a:p>
        </p:txBody>
      </p:sp>
      <p:sp>
        <p:nvSpPr>
          <p:cNvPr id="139" name="Google Shape;139;p18"/>
          <p:cNvSpPr/>
          <p:nvPr/>
        </p:nvSpPr>
        <p:spPr>
          <a:xfrm>
            <a:off x="8843486" y="4717613"/>
            <a:ext cx="2204085" cy="3346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F44444"/>
              </a:buClr>
              <a:buSzPts val="1600"/>
              <a:buFont typeface="Overpass Light"/>
              <a:buNone/>
            </a:pPr>
            <a:r>
              <a:rPr b="0" i="0" lang="en-US" sz="1600" u="none" cap="none" strike="noStrike">
                <a:solidFill>
                  <a:srgbClr val="F44444"/>
                </a:solidFill>
                <a:latin typeface="Overpass Light"/>
                <a:ea typeface="Overpass Light"/>
                <a:cs typeface="Overpass Light"/>
                <a:sym typeface="Overpass Light"/>
              </a:rPr>
              <a:t>no</a:t>
            </a:r>
            <a:endParaRPr b="0" i="0" sz="1600" u="none" cap="none" strike="noStrike"/>
          </a:p>
        </p:txBody>
      </p:sp>
      <p:sp>
        <p:nvSpPr>
          <p:cNvPr id="140" name="Google Shape;140;p18"/>
          <p:cNvSpPr/>
          <p:nvPr/>
        </p:nvSpPr>
        <p:spPr>
          <a:xfrm>
            <a:off x="11473577" y="4717613"/>
            <a:ext cx="2207895" cy="3346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3B4E4E"/>
              </a:buClr>
              <a:buSzPts val="1600"/>
              <a:buFont typeface="Overpass Light"/>
              <a:buNone/>
            </a:pPr>
            <a:r>
              <a:rPr b="0" i="0" lang="en-US" sz="1600" u="none" cap="none" strike="noStrike">
                <a:solidFill>
                  <a:srgbClr val="3B4E4E"/>
                </a:solidFill>
                <a:latin typeface="Overpass Light"/>
                <a:ea typeface="Overpass Light"/>
                <a:cs typeface="Overpass Light"/>
                <a:sym typeface="Overpass Light"/>
              </a:rPr>
              <a:t>yes</a:t>
            </a:r>
            <a:endParaRPr b="0" i="0" sz="1600" u="none" cap="none" strike="noStrike"/>
          </a:p>
        </p:txBody>
      </p:sp>
      <p:sp>
        <p:nvSpPr>
          <p:cNvPr id="141" name="Google Shape;141;p18"/>
          <p:cNvSpPr/>
          <p:nvPr/>
        </p:nvSpPr>
        <p:spPr>
          <a:xfrm>
            <a:off x="739735" y="5520095"/>
            <a:ext cx="13150929" cy="600908"/>
          </a:xfrm>
          <a:prstGeom prst="rect">
            <a:avLst/>
          </a:prstGeom>
          <a:solidFill>
            <a:srgbClr val="FFFFFF">
              <a:alpha val="3921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2" name="Google Shape;142;p18"/>
          <p:cNvSpPr/>
          <p:nvPr/>
        </p:nvSpPr>
        <p:spPr>
          <a:xfrm>
            <a:off x="949404" y="5653207"/>
            <a:ext cx="2207895" cy="3346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3B4E4E"/>
              </a:buClr>
              <a:buSzPts val="1600"/>
              <a:buFont typeface="Overpass Light"/>
              <a:buNone/>
            </a:pPr>
            <a:r>
              <a:rPr b="0" i="0" lang="en-US" sz="1600" u="none" cap="none" strike="noStrike">
                <a:solidFill>
                  <a:srgbClr val="3B4E4E"/>
                </a:solidFill>
                <a:latin typeface="Overpass Light"/>
                <a:ea typeface="Overpass Light"/>
                <a:cs typeface="Overpass Light"/>
                <a:sym typeface="Overpass Light"/>
              </a:rPr>
              <a:t>Variety of map types</a:t>
            </a:r>
            <a:endParaRPr b="0" i="0" sz="1600" u="none" cap="none" strike="noStrike"/>
          </a:p>
        </p:txBody>
      </p:sp>
      <p:sp>
        <p:nvSpPr>
          <p:cNvPr id="143" name="Google Shape;143;p18"/>
          <p:cNvSpPr/>
          <p:nvPr/>
        </p:nvSpPr>
        <p:spPr>
          <a:xfrm>
            <a:off x="3583305" y="5653207"/>
            <a:ext cx="2204085" cy="3346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1F7135"/>
              </a:buClr>
              <a:buSzPts val="1600"/>
              <a:buFont typeface="Overpass Light"/>
              <a:buNone/>
            </a:pPr>
            <a:r>
              <a:rPr b="1" i="0" lang="en-US" sz="1600" u="none" cap="none" strike="noStrike">
                <a:solidFill>
                  <a:srgbClr val="1F7135"/>
                </a:solidFill>
                <a:latin typeface="Overpass Light"/>
                <a:ea typeface="Overpass Light"/>
                <a:cs typeface="Overpass Light"/>
                <a:sym typeface="Overpass Light"/>
              </a:rPr>
              <a:t>yes</a:t>
            </a:r>
            <a:endParaRPr b="0" i="0" sz="1600" u="none" cap="none" strike="noStrike"/>
          </a:p>
        </p:txBody>
      </p:sp>
      <p:sp>
        <p:nvSpPr>
          <p:cNvPr id="144" name="Google Shape;144;p18"/>
          <p:cNvSpPr/>
          <p:nvPr/>
        </p:nvSpPr>
        <p:spPr>
          <a:xfrm>
            <a:off x="6213396" y="5653207"/>
            <a:ext cx="2204085" cy="3346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3B4E4E"/>
              </a:buClr>
              <a:buSzPts val="1600"/>
              <a:buFont typeface="Overpass Light"/>
              <a:buNone/>
            </a:pPr>
            <a:r>
              <a:rPr b="0" i="0" lang="en-US" sz="1600" u="none" cap="none" strike="noStrike">
                <a:solidFill>
                  <a:srgbClr val="3B4E4E"/>
                </a:solidFill>
                <a:latin typeface="Overpass Light"/>
                <a:ea typeface="Overpass Light"/>
                <a:cs typeface="Overpass Light"/>
                <a:sym typeface="Overpass Light"/>
              </a:rPr>
              <a:t>yes</a:t>
            </a:r>
            <a:endParaRPr b="0" i="0" sz="1600" u="none" cap="none" strike="noStrike"/>
          </a:p>
        </p:txBody>
      </p:sp>
      <p:sp>
        <p:nvSpPr>
          <p:cNvPr id="145" name="Google Shape;145;p18"/>
          <p:cNvSpPr/>
          <p:nvPr/>
        </p:nvSpPr>
        <p:spPr>
          <a:xfrm>
            <a:off x="8843486" y="5653207"/>
            <a:ext cx="2204085" cy="3346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3B4E4E"/>
              </a:buClr>
              <a:buSzPts val="1600"/>
              <a:buFont typeface="Overpass Light"/>
              <a:buNone/>
            </a:pPr>
            <a:r>
              <a:rPr b="0" i="0" lang="en-US" sz="1600" u="none" cap="none" strike="noStrike">
                <a:solidFill>
                  <a:srgbClr val="3B4E4E"/>
                </a:solidFill>
                <a:latin typeface="Overpass Light"/>
                <a:ea typeface="Overpass Light"/>
                <a:cs typeface="Overpass Light"/>
                <a:sym typeface="Overpass Light"/>
              </a:rPr>
              <a:t>yes</a:t>
            </a:r>
            <a:endParaRPr b="0" i="0" sz="1600" u="none" cap="none" strike="noStrike"/>
          </a:p>
        </p:txBody>
      </p:sp>
      <p:sp>
        <p:nvSpPr>
          <p:cNvPr id="146" name="Google Shape;146;p18"/>
          <p:cNvSpPr/>
          <p:nvPr/>
        </p:nvSpPr>
        <p:spPr>
          <a:xfrm>
            <a:off x="11473577" y="5653207"/>
            <a:ext cx="2207895" cy="3346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3B4E4E"/>
              </a:buClr>
              <a:buSzPts val="1600"/>
              <a:buFont typeface="Overpass Light"/>
              <a:buNone/>
            </a:pPr>
            <a:r>
              <a:rPr b="0" i="0" lang="en-US" sz="1600" u="none" cap="none" strike="noStrike">
                <a:solidFill>
                  <a:srgbClr val="3B4E4E"/>
                </a:solidFill>
                <a:latin typeface="Overpass Light"/>
                <a:ea typeface="Overpass Light"/>
                <a:cs typeface="Overpass Light"/>
                <a:sym typeface="Overpass Light"/>
              </a:rPr>
              <a:t>yes</a:t>
            </a:r>
            <a:endParaRPr b="0" i="0" sz="1600" u="none" cap="none" strike="noStrike"/>
          </a:p>
        </p:txBody>
      </p:sp>
      <p:sp>
        <p:nvSpPr>
          <p:cNvPr id="147" name="Google Shape;147;p18"/>
          <p:cNvSpPr/>
          <p:nvPr/>
        </p:nvSpPr>
        <p:spPr>
          <a:xfrm>
            <a:off x="739735" y="6121003"/>
            <a:ext cx="13150929" cy="600908"/>
          </a:xfrm>
          <a:prstGeom prst="rect">
            <a:avLst/>
          </a:prstGeom>
          <a:solidFill>
            <a:srgbClr val="000000">
              <a:alpha val="3921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" name="Google Shape;148;p18"/>
          <p:cNvSpPr/>
          <p:nvPr/>
        </p:nvSpPr>
        <p:spPr>
          <a:xfrm>
            <a:off x="949404" y="6254115"/>
            <a:ext cx="2207895" cy="3346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3B4E4E"/>
              </a:buClr>
              <a:buSzPts val="1600"/>
              <a:buFont typeface="Overpass Light"/>
              <a:buNone/>
            </a:pPr>
            <a:r>
              <a:rPr b="0" i="0" lang="en-US" sz="1600" u="none" cap="none" strike="noStrike">
                <a:solidFill>
                  <a:srgbClr val="3B4E4E"/>
                </a:solidFill>
                <a:latin typeface="Overpass Light"/>
                <a:ea typeface="Overpass Light"/>
                <a:cs typeface="Overpass Light"/>
                <a:sym typeface="Overpass Light"/>
              </a:rPr>
              <a:t>User levels </a:t>
            </a:r>
            <a:endParaRPr b="0" i="0" sz="1600" u="none" cap="none" strike="noStrike"/>
          </a:p>
        </p:txBody>
      </p:sp>
      <p:sp>
        <p:nvSpPr>
          <p:cNvPr id="149" name="Google Shape;149;p18"/>
          <p:cNvSpPr/>
          <p:nvPr/>
        </p:nvSpPr>
        <p:spPr>
          <a:xfrm>
            <a:off x="3583305" y="6254115"/>
            <a:ext cx="2204085" cy="3346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1F7135"/>
              </a:buClr>
              <a:buSzPts val="1600"/>
              <a:buFont typeface="Overpass Light"/>
              <a:buNone/>
            </a:pPr>
            <a:r>
              <a:rPr b="1" i="0" lang="en-US" sz="1600" u="none" cap="none" strike="noStrike">
                <a:solidFill>
                  <a:srgbClr val="1F7135"/>
                </a:solidFill>
                <a:latin typeface="Overpass Light"/>
                <a:ea typeface="Overpass Light"/>
                <a:cs typeface="Overpass Light"/>
                <a:sym typeface="Overpass Light"/>
              </a:rPr>
              <a:t>yes</a:t>
            </a:r>
            <a:endParaRPr b="0" i="0" sz="1600" u="none" cap="none" strike="noStrike"/>
          </a:p>
        </p:txBody>
      </p:sp>
      <p:sp>
        <p:nvSpPr>
          <p:cNvPr id="150" name="Google Shape;150;p18"/>
          <p:cNvSpPr/>
          <p:nvPr/>
        </p:nvSpPr>
        <p:spPr>
          <a:xfrm>
            <a:off x="6213396" y="6254115"/>
            <a:ext cx="2204085" cy="3346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F44444"/>
              </a:buClr>
              <a:buSzPts val="1600"/>
              <a:buFont typeface="Overpass Light"/>
              <a:buNone/>
            </a:pPr>
            <a:r>
              <a:rPr b="0" i="0" lang="en-US" sz="1600" u="none" cap="none" strike="noStrike">
                <a:solidFill>
                  <a:srgbClr val="F44444"/>
                </a:solidFill>
                <a:latin typeface="Overpass Light"/>
                <a:ea typeface="Overpass Light"/>
                <a:cs typeface="Overpass Light"/>
                <a:sym typeface="Overpass Light"/>
              </a:rPr>
              <a:t>no</a:t>
            </a:r>
            <a:endParaRPr b="0" i="0" sz="1600" u="none" cap="none" strike="noStrike"/>
          </a:p>
        </p:txBody>
      </p:sp>
      <p:sp>
        <p:nvSpPr>
          <p:cNvPr id="151" name="Google Shape;151;p18"/>
          <p:cNvSpPr/>
          <p:nvPr/>
        </p:nvSpPr>
        <p:spPr>
          <a:xfrm>
            <a:off x="8843486" y="6254115"/>
            <a:ext cx="2204085" cy="3346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F44444"/>
              </a:buClr>
              <a:buSzPts val="1600"/>
              <a:buFont typeface="Overpass Light"/>
              <a:buNone/>
            </a:pPr>
            <a:r>
              <a:rPr b="0" i="0" lang="en-US" sz="1600" u="none" cap="none" strike="noStrike">
                <a:solidFill>
                  <a:srgbClr val="F44444"/>
                </a:solidFill>
                <a:latin typeface="Overpass Light"/>
                <a:ea typeface="Overpass Light"/>
                <a:cs typeface="Overpass Light"/>
                <a:sym typeface="Overpass Light"/>
              </a:rPr>
              <a:t>no</a:t>
            </a:r>
            <a:endParaRPr b="0" i="0" sz="1600" u="none" cap="none" strike="noStrike"/>
          </a:p>
        </p:txBody>
      </p:sp>
      <p:sp>
        <p:nvSpPr>
          <p:cNvPr id="152" name="Google Shape;152;p18"/>
          <p:cNvSpPr/>
          <p:nvPr/>
        </p:nvSpPr>
        <p:spPr>
          <a:xfrm>
            <a:off x="11473577" y="6254115"/>
            <a:ext cx="2207895" cy="3346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F44444"/>
              </a:buClr>
              <a:buSzPts val="1600"/>
              <a:buFont typeface="Overpass Light"/>
              <a:buNone/>
            </a:pPr>
            <a:r>
              <a:rPr b="0" i="0" lang="en-US" sz="1600" u="none" cap="none" strike="noStrike">
                <a:solidFill>
                  <a:srgbClr val="F44444"/>
                </a:solidFill>
                <a:latin typeface="Overpass Light"/>
                <a:ea typeface="Overpass Light"/>
                <a:cs typeface="Overpass Light"/>
                <a:sym typeface="Overpass Light"/>
              </a:rPr>
              <a:t>no</a:t>
            </a:r>
            <a:endParaRPr b="0" i="0" sz="1600" u="none" cap="none" strike="noStrike"/>
          </a:p>
        </p:txBody>
      </p:sp>
      <p:sp>
        <p:nvSpPr>
          <p:cNvPr id="153" name="Google Shape;153;p18"/>
          <p:cNvSpPr/>
          <p:nvPr/>
        </p:nvSpPr>
        <p:spPr>
          <a:xfrm>
            <a:off x="739735" y="6721912"/>
            <a:ext cx="13150929" cy="935593"/>
          </a:xfrm>
          <a:prstGeom prst="rect">
            <a:avLst/>
          </a:prstGeom>
          <a:solidFill>
            <a:srgbClr val="FFFFFF">
              <a:alpha val="3921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18"/>
          <p:cNvSpPr/>
          <p:nvPr/>
        </p:nvSpPr>
        <p:spPr>
          <a:xfrm>
            <a:off x="949404" y="6855023"/>
            <a:ext cx="2207895" cy="66936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3B4E4E"/>
              </a:buClr>
              <a:buSzPts val="1600"/>
              <a:buFont typeface="Overpass Light"/>
              <a:buNone/>
            </a:pPr>
            <a:r>
              <a:rPr b="0" i="0" lang="en-US" sz="1600" u="none" cap="none" strike="noStrike">
                <a:solidFill>
                  <a:srgbClr val="3B4E4E"/>
                </a:solidFill>
                <a:latin typeface="Overpass Light"/>
                <a:ea typeface="Overpass Light"/>
                <a:cs typeface="Overpass Light"/>
                <a:sym typeface="Overpass Light"/>
              </a:rPr>
              <a:t>Multiple parameters for route ratings</a:t>
            </a:r>
            <a:endParaRPr b="0" i="0" sz="1600" u="none" cap="none" strike="noStrike"/>
          </a:p>
        </p:txBody>
      </p:sp>
      <p:sp>
        <p:nvSpPr>
          <p:cNvPr id="155" name="Google Shape;155;p18"/>
          <p:cNvSpPr/>
          <p:nvPr/>
        </p:nvSpPr>
        <p:spPr>
          <a:xfrm>
            <a:off x="3583305" y="6855023"/>
            <a:ext cx="2204085" cy="3346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1F7135"/>
              </a:buClr>
              <a:buSzPts val="1600"/>
              <a:buFont typeface="Overpass Light"/>
              <a:buNone/>
            </a:pPr>
            <a:r>
              <a:rPr b="1" i="0" lang="en-US" sz="1600" u="none" cap="none" strike="noStrike">
                <a:solidFill>
                  <a:srgbClr val="1F7135"/>
                </a:solidFill>
                <a:latin typeface="Overpass Light"/>
                <a:ea typeface="Overpass Light"/>
                <a:cs typeface="Overpass Light"/>
                <a:sym typeface="Overpass Light"/>
              </a:rPr>
              <a:t>yes</a:t>
            </a:r>
            <a:endParaRPr b="0" i="0" sz="1600" u="none" cap="none" strike="noStrike"/>
          </a:p>
        </p:txBody>
      </p:sp>
      <p:sp>
        <p:nvSpPr>
          <p:cNvPr id="156" name="Google Shape;156;p18"/>
          <p:cNvSpPr/>
          <p:nvPr/>
        </p:nvSpPr>
        <p:spPr>
          <a:xfrm>
            <a:off x="6213396" y="6855023"/>
            <a:ext cx="2204085" cy="66936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3B4E4E"/>
              </a:buClr>
              <a:buSzPts val="1600"/>
              <a:buFont typeface="Overpass Light"/>
              <a:buNone/>
            </a:pPr>
            <a:r>
              <a:rPr b="0" i="0" lang="en-US" sz="1600" u="none" cap="none" strike="noStrike">
                <a:solidFill>
                  <a:srgbClr val="3B4E4E"/>
                </a:solidFill>
                <a:latin typeface="Overpass Light"/>
                <a:ea typeface="Overpass Light"/>
                <a:cs typeface="Overpass Light"/>
                <a:sym typeface="Overpass Light"/>
              </a:rPr>
              <a:t>Yes (only based on stars)</a:t>
            </a:r>
            <a:endParaRPr b="0" i="0" sz="1600" u="none" cap="none" strike="noStrike"/>
          </a:p>
        </p:txBody>
      </p:sp>
      <p:sp>
        <p:nvSpPr>
          <p:cNvPr id="157" name="Google Shape;157;p18"/>
          <p:cNvSpPr/>
          <p:nvPr/>
        </p:nvSpPr>
        <p:spPr>
          <a:xfrm>
            <a:off x="8843486" y="6855023"/>
            <a:ext cx="2204085" cy="66936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3B4E4E"/>
              </a:buClr>
              <a:buSzPts val="1600"/>
              <a:buFont typeface="Overpass Light"/>
              <a:buNone/>
            </a:pPr>
            <a:r>
              <a:rPr b="0" i="0" lang="en-US" sz="1600" u="none" cap="none" strike="noStrike">
                <a:solidFill>
                  <a:srgbClr val="3B4E4E"/>
                </a:solidFill>
                <a:latin typeface="Overpass Light"/>
                <a:ea typeface="Overpass Light"/>
                <a:cs typeface="Overpass Light"/>
                <a:sym typeface="Overpass Light"/>
              </a:rPr>
              <a:t>Yes (only based on stars)</a:t>
            </a:r>
            <a:endParaRPr b="0" i="0" sz="1600" u="none" cap="none" strike="noStrike"/>
          </a:p>
        </p:txBody>
      </p:sp>
      <p:sp>
        <p:nvSpPr>
          <p:cNvPr id="158" name="Google Shape;158;p18"/>
          <p:cNvSpPr/>
          <p:nvPr/>
        </p:nvSpPr>
        <p:spPr>
          <a:xfrm>
            <a:off x="11473577" y="6855023"/>
            <a:ext cx="2207895" cy="3346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3B4E4E"/>
              </a:buClr>
              <a:buSzPts val="1600"/>
              <a:buFont typeface="Overpass Light"/>
              <a:buNone/>
            </a:pPr>
            <a:r>
              <a:rPr b="0" i="0" lang="en-US" sz="1600" u="none" cap="none" strike="noStrike">
                <a:solidFill>
                  <a:srgbClr val="3B4E4E"/>
                </a:solidFill>
                <a:latin typeface="Overpass Light"/>
                <a:ea typeface="Overpass Light"/>
                <a:cs typeface="Overpass Light"/>
                <a:sym typeface="Overpass Light"/>
              </a:rPr>
              <a:t>Yes (Starts + filters)</a:t>
            </a:r>
            <a:endParaRPr b="0" i="0" sz="1600" u="none" cap="none" strike="noStrike"/>
          </a:p>
        </p:txBody>
      </p:sp>
      <p:pic>
        <p:nvPicPr>
          <p:cNvPr id="159" name="Google Shape;159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411063" y="7705713"/>
            <a:ext cx="2219325" cy="523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9"/>
          <p:cNvSpPr/>
          <p:nvPr/>
        </p:nvSpPr>
        <p:spPr>
          <a:xfrm>
            <a:off x="793790" y="1197888"/>
            <a:ext cx="7874794" cy="70877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4719"/>
              </a:lnSpc>
              <a:spcBef>
                <a:spcPts val="0"/>
              </a:spcBef>
              <a:spcAft>
                <a:spcPts val="0"/>
              </a:spcAft>
              <a:buClr>
                <a:srgbClr val="233939"/>
              </a:buClr>
              <a:buSzPts val="4450"/>
              <a:buFont typeface="Syne"/>
              <a:buNone/>
            </a:pPr>
            <a:r>
              <a:rPr b="1" i="0" lang="en-US" sz="4000" u="none" cap="none" strike="noStrike">
                <a:solidFill>
                  <a:srgbClr val="233939"/>
                </a:solidFill>
              </a:rPr>
              <a:t>Functional Requirements</a:t>
            </a:r>
            <a:endParaRPr i="0" sz="4000" u="none" cap="none" strike="noStrike"/>
          </a:p>
        </p:txBody>
      </p:sp>
      <p:pic>
        <p:nvPicPr>
          <p:cNvPr id="166" name="Google Shape;166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411075" y="7705713"/>
            <a:ext cx="2219325" cy="52387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67" name="Google Shape;167;p19"/>
          <p:cNvGrpSpPr/>
          <p:nvPr/>
        </p:nvGrpSpPr>
        <p:grpSpPr>
          <a:xfrm>
            <a:off x="3074438" y="3483862"/>
            <a:ext cx="2481826" cy="1897220"/>
            <a:chOff x="858425" y="2376274"/>
            <a:chExt cx="2481826" cy="1897220"/>
          </a:xfrm>
        </p:grpSpPr>
        <p:sp>
          <p:nvSpPr>
            <p:cNvPr id="168" name="Google Shape;168;p19"/>
            <p:cNvSpPr/>
            <p:nvPr/>
          </p:nvSpPr>
          <p:spPr>
            <a:xfrm>
              <a:off x="1417293" y="2376274"/>
              <a:ext cx="1363860" cy="1512345"/>
            </a:xfrm>
            <a:custGeom>
              <a:rect b="b" l="l" r="r" t="t"/>
              <a:pathLst>
                <a:path extrusionOk="0" h="2199775" w="2199775">
                  <a:moveTo>
                    <a:pt x="0" y="0"/>
                  </a:moveTo>
                  <a:lnTo>
                    <a:pt x="2199774" y="0"/>
                  </a:lnTo>
                  <a:lnTo>
                    <a:pt x="2199774" y="2199775"/>
                  </a:lnTo>
                  <a:lnTo>
                    <a:pt x="0" y="2199775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 b="0" l="0" r="0" t="0"/>
              </a:stretch>
            </a:blipFill>
            <a:ln>
              <a:noFill/>
            </a:ln>
          </p:spPr>
        </p:sp>
        <p:sp>
          <p:nvSpPr>
            <p:cNvPr id="169" name="Google Shape;169;p19"/>
            <p:cNvSpPr txBox="1"/>
            <p:nvPr/>
          </p:nvSpPr>
          <p:spPr>
            <a:xfrm>
              <a:off x="858425" y="3981068"/>
              <a:ext cx="2481826" cy="29242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9542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900" u="none" cap="none" strike="noStrike">
                  <a:solidFill>
                    <a:srgbClr val="3B4E4E"/>
                  </a:solidFill>
                  <a:latin typeface="Overpass Black"/>
                  <a:ea typeface="Overpass Black"/>
                  <a:cs typeface="Overpass Black"/>
                  <a:sym typeface="Overpass Black"/>
                </a:rPr>
                <a:t>Community Features</a:t>
              </a:r>
              <a:endParaRPr sz="1900"/>
            </a:p>
          </p:txBody>
        </p:sp>
      </p:grpSp>
      <p:grpSp>
        <p:nvGrpSpPr>
          <p:cNvPr id="170" name="Google Shape;170;p19"/>
          <p:cNvGrpSpPr/>
          <p:nvPr/>
        </p:nvGrpSpPr>
        <p:grpSpPr>
          <a:xfrm>
            <a:off x="8737963" y="3257575"/>
            <a:ext cx="2587725" cy="2250163"/>
            <a:chOff x="0" y="0"/>
            <a:chExt cx="3450300" cy="3000217"/>
          </a:xfrm>
        </p:grpSpPr>
        <p:sp>
          <p:nvSpPr>
            <p:cNvPr id="171" name="Google Shape;171;p19"/>
            <p:cNvSpPr/>
            <p:nvPr/>
          </p:nvSpPr>
          <p:spPr>
            <a:xfrm>
              <a:off x="556809" y="0"/>
              <a:ext cx="2336775" cy="2371267"/>
            </a:xfrm>
            <a:custGeom>
              <a:rect b="b" l="l" r="r" t="t"/>
              <a:pathLst>
                <a:path extrusionOk="0" h="2371267" w="2336775">
                  <a:moveTo>
                    <a:pt x="0" y="0"/>
                  </a:moveTo>
                  <a:lnTo>
                    <a:pt x="2336775" y="0"/>
                  </a:lnTo>
                  <a:lnTo>
                    <a:pt x="2336775" y="2371267"/>
                  </a:lnTo>
                  <a:lnTo>
                    <a:pt x="0" y="2371267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 b="0" l="0" r="0" t="0"/>
              </a:stretch>
            </a:blipFill>
            <a:ln>
              <a:noFill/>
            </a:ln>
          </p:spPr>
        </p:sp>
        <p:sp>
          <p:nvSpPr>
            <p:cNvPr id="172" name="Google Shape;172;p19"/>
            <p:cNvSpPr txBox="1"/>
            <p:nvPr/>
          </p:nvSpPr>
          <p:spPr>
            <a:xfrm>
              <a:off x="0" y="2161717"/>
              <a:ext cx="3450300" cy="83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900" u="none" cap="none" strike="noStrike">
                  <a:solidFill>
                    <a:srgbClr val="3B4E4E"/>
                  </a:solidFill>
                  <a:latin typeface="Overpass Black"/>
                  <a:ea typeface="Overpass Black"/>
                  <a:cs typeface="Overpass Black"/>
                  <a:sym typeface="Overpass Black"/>
                </a:rPr>
                <a:t>Weather Forecast Integration</a:t>
              </a:r>
              <a:endParaRPr sz="1900"/>
            </a:p>
          </p:txBody>
        </p:sp>
      </p:grpSp>
      <p:grpSp>
        <p:nvGrpSpPr>
          <p:cNvPr id="173" name="Google Shape;173;p19"/>
          <p:cNvGrpSpPr/>
          <p:nvPr/>
        </p:nvGrpSpPr>
        <p:grpSpPr>
          <a:xfrm>
            <a:off x="11934912" y="3250851"/>
            <a:ext cx="2068800" cy="2130224"/>
            <a:chOff x="11379037" y="2689151"/>
            <a:chExt cx="2068800" cy="2130224"/>
          </a:xfrm>
        </p:grpSpPr>
        <p:sp>
          <p:nvSpPr>
            <p:cNvPr id="174" name="Google Shape;174;p19"/>
            <p:cNvSpPr/>
            <p:nvPr/>
          </p:nvSpPr>
          <p:spPr>
            <a:xfrm>
              <a:off x="11516038" y="2689151"/>
              <a:ext cx="1794783" cy="1664897"/>
            </a:xfrm>
            <a:custGeom>
              <a:rect b="b" l="l" r="r" t="t"/>
              <a:pathLst>
                <a:path extrusionOk="0" h="2361556" w="2361556">
                  <a:moveTo>
                    <a:pt x="0" y="0"/>
                  </a:moveTo>
                  <a:lnTo>
                    <a:pt x="2361556" y="0"/>
                  </a:lnTo>
                  <a:lnTo>
                    <a:pt x="2361556" y="2361556"/>
                  </a:lnTo>
                  <a:lnTo>
                    <a:pt x="0" y="2361556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6">
                <a:alphaModFix/>
              </a:blip>
              <a:stretch>
                <a:fillRect b="0" l="0" r="0" t="0"/>
              </a:stretch>
            </a:blipFill>
            <a:ln>
              <a:noFill/>
            </a:ln>
          </p:spPr>
        </p:sp>
        <p:sp>
          <p:nvSpPr>
            <p:cNvPr id="175" name="Google Shape;175;p19"/>
            <p:cNvSpPr txBox="1"/>
            <p:nvPr/>
          </p:nvSpPr>
          <p:spPr>
            <a:xfrm>
              <a:off x="11379037" y="4526875"/>
              <a:ext cx="2068800" cy="292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9542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900" u="none" cap="none" strike="noStrike">
                  <a:solidFill>
                    <a:srgbClr val="3B4E4E"/>
                  </a:solidFill>
                  <a:latin typeface="Overpass Black"/>
                  <a:ea typeface="Overpass Black"/>
                  <a:cs typeface="Overpass Black"/>
                  <a:sym typeface="Overpass Black"/>
                </a:rPr>
                <a:t>Real-Time Alerts</a:t>
              </a:r>
              <a:endParaRPr sz="1900"/>
            </a:p>
          </p:txBody>
        </p:sp>
      </p:grpSp>
      <p:grpSp>
        <p:nvGrpSpPr>
          <p:cNvPr id="176" name="Google Shape;176;p19"/>
          <p:cNvGrpSpPr/>
          <p:nvPr/>
        </p:nvGrpSpPr>
        <p:grpSpPr>
          <a:xfrm>
            <a:off x="5825250" y="3361414"/>
            <a:ext cx="2389700" cy="2042479"/>
            <a:chOff x="0" y="0"/>
            <a:chExt cx="4052400" cy="3741490"/>
          </a:xfrm>
        </p:grpSpPr>
        <p:sp>
          <p:nvSpPr>
            <p:cNvPr id="177" name="Google Shape;177;p19"/>
            <p:cNvSpPr/>
            <p:nvPr/>
          </p:nvSpPr>
          <p:spPr>
            <a:xfrm>
              <a:off x="757276" y="0"/>
              <a:ext cx="2537901" cy="2537901"/>
            </a:xfrm>
            <a:custGeom>
              <a:rect b="b" l="l" r="r" t="t"/>
              <a:pathLst>
                <a:path extrusionOk="0" h="2537901" w="2537901">
                  <a:moveTo>
                    <a:pt x="0" y="0"/>
                  </a:moveTo>
                  <a:lnTo>
                    <a:pt x="2537901" y="0"/>
                  </a:lnTo>
                  <a:lnTo>
                    <a:pt x="2537901" y="2537901"/>
                  </a:lnTo>
                  <a:lnTo>
                    <a:pt x="0" y="2537901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7">
                <a:alphaModFix/>
              </a:blip>
              <a:stretch>
                <a:fillRect b="0" l="0" r="0" t="0"/>
              </a:stretch>
            </a:blipFill>
            <a:ln>
              <a:noFill/>
            </a:ln>
          </p:spPr>
        </p:sp>
        <p:sp>
          <p:nvSpPr>
            <p:cNvPr id="178" name="Google Shape;178;p19"/>
            <p:cNvSpPr txBox="1"/>
            <p:nvPr/>
          </p:nvSpPr>
          <p:spPr>
            <a:xfrm>
              <a:off x="0" y="2589790"/>
              <a:ext cx="4052400" cy="1151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900" u="none" cap="none" strike="noStrike">
                  <a:solidFill>
                    <a:srgbClr val="3B4E4E"/>
                  </a:solidFill>
                  <a:latin typeface="Overpass Black"/>
                  <a:ea typeface="Overpass Black"/>
                  <a:cs typeface="Overpass Black"/>
                  <a:sym typeface="Overpass Black"/>
                </a:rPr>
                <a:t>Comprehensive Route Descriptions</a:t>
              </a:r>
              <a:endParaRPr sz="1900"/>
            </a:p>
          </p:txBody>
        </p:sp>
      </p:grpSp>
      <p:grpSp>
        <p:nvGrpSpPr>
          <p:cNvPr id="179" name="Google Shape;179;p19"/>
          <p:cNvGrpSpPr/>
          <p:nvPr/>
        </p:nvGrpSpPr>
        <p:grpSpPr>
          <a:xfrm>
            <a:off x="540502" y="3020926"/>
            <a:ext cx="2264949" cy="2360158"/>
            <a:chOff x="11144629" y="2581775"/>
            <a:chExt cx="2682000" cy="2704123"/>
          </a:xfrm>
        </p:grpSpPr>
        <p:sp>
          <p:nvSpPr>
            <p:cNvPr id="180" name="Google Shape;180;p19"/>
            <p:cNvSpPr/>
            <p:nvPr/>
          </p:nvSpPr>
          <p:spPr>
            <a:xfrm>
              <a:off x="11376299" y="2581775"/>
              <a:ext cx="2218656" cy="2276177"/>
            </a:xfrm>
            <a:custGeom>
              <a:rect b="b" l="l" r="r" t="t"/>
              <a:pathLst>
                <a:path extrusionOk="0" h="3286898" w="3286898">
                  <a:moveTo>
                    <a:pt x="0" y="0"/>
                  </a:moveTo>
                  <a:lnTo>
                    <a:pt x="3286897" y="0"/>
                  </a:lnTo>
                  <a:lnTo>
                    <a:pt x="3286897" y="3286898"/>
                  </a:lnTo>
                  <a:lnTo>
                    <a:pt x="0" y="3286898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8">
                <a:alphaModFix/>
              </a:blip>
              <a:stretch>
                <a:fillRect b="0" l="0" r="0" t="0"/>
              </a:stretch>
            </a:blipFill>
            <a:ln>
              <a:noFill/>
            </a:ln>
          </p:spPr>
        </p:sp>
        <p:sp>
          <p:nvSpPr>
            <p:cNvPr id="181" name="Google Shape;181;p19"/>
            <p:cNvSpPr txBox="1"/>
            <p:nvPr/>
          </p:nvSpPr>
          <p:spPr>
            <a:xfrm>
              <a:off x="11144629" y="4565598"/>
              <a:ext cx="2682000" cy="720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900" u="none" cap="none" strike="noStrike">
                  <a:solidFill>
                    <a:srgbClr val="3B4E4E"/>
                  </a:solidFill>
                  <a:latin typeface="Overpass Black"/>
                  <a:ea typeface="Overpass Black"/>
                  <a:cs typeface="Overpass Black"/>
                  <a:sym typeface="Overpass Black"/>
                </a:rPr>
                <a:t>Personalized Route Planning</a:t>
              </a:r>
              <a:endParaRPr sz="1900"/>
            </a:p>
          </p:txBody>
        </p:sp>
      </p:grp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20"/>
          <p:cNvSpPr/>
          <p:nvPr/>
        </p:nvSpPr>
        <p:spPr>
          <a:xfrm>
            <a:off x="469099" y="610725"/>
            <a:ext cx="8167200" cy="70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4719"/>
              </a:lnSpc>
              <a:spcBef>
                <a:spcPts val="0"/>
              </a:spcBef>
              <a:spcAft>
                <a:spcPts val="0"/>
              </a:spcAft>
              <a:buClr>
                <a:srgbClr val="233939"/>
              </a:buClr>
              <a:buSzPts val="4450"/>
              <a:buFont typeface="Syne"/>
              <a:buNone/>
            </a:pPr>
            <a:r>
              <a:rPr b="1" i="0" lang="en-US" sz="4000" u="none" cap="none" strike="noStrike">
                <a:solidFill>
                  <a:srgbClr val="233939"/>
                </a:solidFill>
              </a:rPr>
              <a:t>Non-Functional Requirements</a:t>
            </a:r>
            <a:endParaRPr i="0" sz="4000" u="none" cap="none" strike="noStrike"/>
          </a:p>
        </p:txBody>
      </p:sp>
      <p:sp>
        <p:nvSpPr>
          <p:cNvPr id="188" name="Google Shape;188;p20"/>
          <p:cNvSpPr/>
          <p:nvPr/>
        </p:nvSpPr>
        <p:spPr>
          <a:xfrm>
            <a:off x="373702" y="2411250"/>
            <a:ext cx="3018300" cy="36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3B4E4E"/>
              </a:buClr>
              <a:buSzPts val="1750"/>
              <a:buFont typeface="Overpass Light"/>
              <a:buNone/>
            </a:pPr>
            <a:r>
              <a:rPr b="1" i="0" lang="en-US" sz="1750" u="none" cap="none" strike="noStrike">
                <a:solidFill>
                  <a:srgbClr val="3B4E4E"/>
                </a:solidFill>
                <a:latin typeface="Overpass"/>
                <a:ea typeface="Overpass"/>
                <a:cs typeface="Overpass"/>
                <a:sym typeface="Overpass"/>
              </a:rPr>
              <a:t>Performance</a:t>
            </a:r>
            <a:endParaRPr b="1" sz="1750">
              <a:solidFill>
                <a:srgbClr val="3B4E4E"/>
              </a:solidFill>
              <a:latin typeface="Overpass"/>
              <a:ea typeface="Overpass"/>
              <a:cs typeface="Overpass"/>
              <a:sym typeface="Overpass"/>
            </a:endParaRPr>
          </a:p>
          <a:p>
            <a:pPr indent="0" lvl="0" marL="0" marR="0" rtl="0" algn="l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3B4E4E"/>
              </a:buClr>
              <a:buSzPts val="1750"/>
              <a:buFont typeface="Overpass Light"/>
              <a:buNone/>
            </a:pPr>
            <a:r>
              <a:rPr b="1" i="0" lang="en-US" sz="1750" u="none" cap="none" strike="noStrike">
                <a:solidFill>
                  <a:srgbClr val="3B4E4E"/>
                </a:solidFill>
                <a:latin typeface="Overpass"/>
                <a:ea typeface="Overpass"/>
                <a:cs typeface="Overpass"/>
                <a:sym typeface="Overpass"/>
              </a:rPr>
              <a:t> </a:t>
            </a:r>
            <a:r>
              <a:rPr b="0" i="0" lang="en-US" sz="1750" u="none" cap="none" strike="noStrike">
                <a:solidFill>
                  <a:srgbClr val="3B4E4E"/>
                </a:solidFill>
                <a:latin typeface="Overpass Light"/>
                <a:ea typeface="Overpass Light"/>
                <a:cs typeface="Overpass Light"/>
                <a:sym typeface="Overpass Light"/>
              </a:rPr>
              <a:t>Handle 1000 concurrent users with optimized resource utilization for high traffic.</a:t>
            </a:r>
            <a:endParaRPr b="0" i="0" sz="1750" u="none" cap="none" strike="noStrike"/>
          </a:p>
        </p:txBody>
      </p:sp>
      <p:sp>
        <p:nvSpPr>
          <p:cNvPr id="189" name="Google Shape;189;p20"/>
          <p:cNvSpPr/>
          <p:nvPr/>
        </p:nvSpPr>
        <p:spPr>
          <a:xfrm>
            <a:off x="5167061" y="2411250"/>
            <a:ext cx="3513900" cy="36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3B4E4E"/>
              </a:buClr>
              <a:buSzPts val="1750"/>
              <a:buFont typeface="Overpass Light"/>
              <a:buNone/>
            </a:pPr>
            <a:r>
              <a:rPr b="1" i="0" lang="en-US" sz="1750" u="none" cap="none" strike="noStrike">
                <a:solidFill>
                  <a:srgbClr val="3B4E4E"/>
                </a:solidFill>
                <a:latin typeface="Overpass"/>
                <a:ea typeface="Overpass"/>
                <a:cs typeface="Overpass"/>
                <a:sym typeface="Overpass"/>
              </a:rPr>
              <a:t>Scalability</a:t>
            </a:r>
            <a:endParaRPr b="1" sz="1750">
              <a:solidFill>
                <a:srgbClr val="3B4E4E"/>
              </a:solidFill>
              <a:latin typeface="Overpass"/>
              <a:ea typeface="Overpass"/>
              <a:cs typeface="Overpass"/>
              <a:sym typeface="Overpass"/>
            </a:endParaRPr>
          </a:p>
          <a:p>
            <a:pPr indent="0" lvl="0" marL="0" marR="0" rtl="0" algn="l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3B4E4E"/>
              </a:buClr>
              <a:buSzPts val="1750"/>
              <a:buFont typeface="Overpass Light"/>
              <a:buNone/>
            </a:pPr>
            <a:r>
              <a:rPr b="0" i="0" lang="en-US" sz="1750" u="none" cap="none" strike="noStrike">
                <a:solidFill>
                  <a:srgbClr val="3B4E4E"/>
                </a:solidFill>
                <a:latin typeface="Overpass Light"/>
                <a:ea typeface="Overpass Light"/>
                <a:cs typeface="Overpass Light"/>
                <a:sym typeface="Overpass Light"/>
              </a:rPr>
              <a:t>Design for horizontal scaling by adding microservice instances to support growing user loads.</a:t>
            </a:r>
            <a:endParaRPr b="0" i="0" sz="1750" u="none" cap="none" strike="noStrike"/>
          </a:p>
        </p:txBody>
      </p:sp>
      <p:sp>
        <p:nvSpPr>
          <p:cNvPr id="190" name="Google Shape;190;p20"/>
          <p:cNvSpPr/>
          <p:nvPr/>
        </p:nvSpPr>
        <p:spPr>
          <a:xfrm>
            <a:off x="10456025" y="2411250"/>
            <a:ext cx="3018300" cy="36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3B4E4E"/>
              </a:buClr>
              <a:buSzPts val="1750"/>
              <a:buFont typeface="Overpass Light"/>
              <a:buNone/>
            </a:pPr>
            <a:r>
              <a:rPr b="1" i="0" lang="en-US" sz="1750" u="none" cap="none" strike="noStrike">
                <a:solidFill>
                  <a:srgbClr val="3B4E4E"/>
                </a:solidFill>
                <a:latin typeface="Overpass"/>
                <a:ea typeface="Overpass"/>
                <a:cs typeface="Overpass"/>
                <a:sym typeface="Overpass"/>
              </a:rPr>
              <a:t>Maintainability</a:t>
            </a:r>
            <a:endParaRPr b="1" sz="1750">
              <a:solidFill>
                <a:srgbClr val="3B4E4E"/>
              </a:solidFill>
              <a:latin typeface="Overpass"/>
              <a:ea typeface="Overpass"/>
              <a:cs typeface="Overpass"/>
              <a:sym typeface="Overpass"/>
            </a:endParaRPr>
          </a:p>
          <a:p>
            <a:pPr indent="0" lvl="0" marL="0" marR="0" rtl="0" algn="l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3B4E4E"/>
              </a:buClr>
              <a:buSzPts val="1750"/>
              <a:buFont typeface="Overpass Light"/>
              <a:buNone/>
            </a:pPr>
            <a:r>
              <a:rPr b="0" i="0" lang="en-US" sz="1750" u="none" cap="none" strike="noStrike">
                <a:solidFill>
                  <a:srgbClr val="3B4E4E"/>
                </a:solidFill>
                <a:latin typeface="Overpass Light"/>
                <a:ea typeface="Overpass Light"/>
                <a:cs typeface="Overpass Light"/>
                <a:sym typeface="Overpass Light"/>
              </a:rPr>
              <a:t> Write clean, modular code, maintain documentation, and use Git for version control.</a:t>
            </a:r>
            <a:endParaRPr b="0" i="0" sz="1750" u="none" cap="none" strike="noStrike"/>
          </a:p>
        </p:txBody>
      </p:sp>
      <p:sp>
        <p:nvSpPr>
          <p:cNvPr id="191" name="Google Shape;191;p20"/>
          <p:cNvSpPr/>
          <p:nvPr/>
        </p:nvSpPr>
        <p:spPr>
          <a:xfrm>
            <a:off x="2422549" y="5269025"/>
            <a:ext cx="3018300" cy="36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3B4E4E"/>
              </a:buClr>
              <a:buSzPts val="1750"/>
              <a:buFont typeface="Overpass Light"/>
              <a:buNone/>
            </a:pPr>
            <a:r>
              <a:rPr b="1" i="0" lang="en-US" sz="1750" u="none" cap="none" strike="noStrike">
                <a:solidFill>
                  <a:srgbClr val="3B4E4E"/>
                </a:solidFill>
                <a:latin typeface="Overpass"/>
                <a:ea typeface="Overpass"/>
                <a:cs typeface="Overpass"/>
                <a:sym typeface="Overpass"/>
              </a:rPr>
              <a:t>Compatibility</a:t>
            </a:r>
            <a:endParaRPr b="1" sz="1750">
              <a:solidFill>
                <a:srgbClr val="3B4E4E"/>
              </a:solidFill>
              <a:latin typeface="Overpass"/>
              <a:ea typeface="Overpass"/>
              <a:cs typeface="Overpass"/>
              <a:sym typeface="Overpass"/>
            </a:endParaRPr>
          </a:p>
          <a:p>
            <a:pPr indent="0" lvl="0" marL="0" marR="0" rtl="0" algn="l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3B4E4E"/>
              </a:buClr>
              <a:buSzPts val="1750"/>
              <a:buFont typeface="Overpass Light"/>
              <a:buNone/>
            </a:pPr>
            <a:r>
              <a:rPr b="0" i="0" lang="en-US" sz="1750" u="none" cap="none" strike="noStrike">
                <a:solidFill>
                  <a:srgbClr val="3B4E4E"/>
                </a:solidFill>
                <a:latin typeface="Overpass Light"/>
                <a:ea typeface="Overpass Light"/>
                <a:cs typeface="Overpass Light"/>
                <a:sym typeface="Overpass Light"/>
              </a:rPr>
              <a:t> Ensure compatibility across major browsers, web and mobile platforms, and various devices.</a:t>
            </a:r>
            <a:endParaRPr b="0" i="0" sz="1750" u="none" cap="none" strike="noStrike"/>
          </a:p>
        </p:txBody>
      </p:sp>
      <p:sp>
        <p:nvSpPr>
          <p:cNvPr id="192" name="Google Shape;192;p20"/>
          <p:cNvSpPr/>
          <p:nvPr/>
        </p:nvSpPr>
        <p:spPr>
          <a:xfrm>
            <a:off x="8430950" y="5269025"/>
            <a:ext cx="2802900" cy="36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3B4E4E"/>
              </a:buClr>
              <a:buSzPts val="1750"/>
              <a:buFont typeface="Overpass Light"/>
              <a:buNone/>
            </a:pPr>
            <a:r>
              <a:rPr b="1" i="0" lang="en-US" sz="1750" u="none" cap="none" strike="noStrike">
                <a:solidFill>
                  <a:srgbClr val="3B4E4E"/>
                </a:solidFill>
                <a:latin typeface="Overpass"/>
                <a:ea typeface="Overpass"/>
                <a:cs typeface="Overpass"/>
                <a:sym typeface="Overpass"/>
              </a:rPr>
              <a:t>Testing and Quality Assurance</a:t>
            </a:r>
            <a:endParaRPr b="1" sz="1750">
              <a:solidFill>
                <a:srgbClr val="3B4E4E"/>
              </a:solidFill>
              <a:latin typeface="Overpass"/>
              <a:ea typeface="Overpass"/>
              <a:cs typeface="Overpass"/>
              <a:sym typeface="Overpass"/>
            </a:endParaRPr>
          </a:p>
          <a:p>
            <a:pPr indent="0" lvl="0" marL="0" marR="0" rtl="0" algn="l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3B4E4E"/>
              </a:buClr>
              <a:buSzPts val="1750"/>
              <a:buFont typeface="Overpass Light"/>
              <a:buNone/>
            </a:pPr>
            <a:r>
              <a:rPr b="0" i="0" lang="en-US" sz="1750" u="none" cap="none" strike="noStrike">
                <a:solidFill>
                  <a:srgbClr val="3B4E4E"/>
                </a:solidFill>
                <a:latin typeface="Overpass Light"/>
                <a:ea typeface="Overpass Light"/>
                <a:cs typeface="Overpass Light"/>
                <a:sym typeface="Overpass Light"/>
              </a:rPr>
              <a:t> Use automated testing to ensure reliability and functionality.</a:t>
            </a:r>
            <a:endParaRPr b="0" i="0" sz="1750" u="none" cap="none" strike="noStrike"/>
          </a:p>
        </p:txBody>
      </p:sp>
      <p:pic>
        <p:nvPicPr>
          <p:cNvPr id="193" name="Google Shape;193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411075" y="7705736"/>
            <a:ext cx="2219325" cy="523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21"/>
          <p:cNvSpPr/>
          <p:nvPr/>
        </p:nvSpPr>
        <p:spPr>
          <a:xfrm>
            <a:off x="606973" y="478150"/>
            <a:ext cx="7477200" cy="542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233939"/>
              </a:buClr>
              <a:buSzPts val="3400"/>
              <a:buFont typeface="Syne"/>
              <a:buNone/>
            </a:pPr>
            <a:r>
              <a:rPr b="1" i="0" lang="en-US" sz="4000" u="none" cap="none" strike="noStrike">
                <a:solidFill>
                  <a:srgbClr val="233939"/>
                </a:solidFill>
              </a:rPr>
              <a:t>High-Level Architecture</a:t>
            </a:r>
            <a:endParaRPr i="0" sz="4000" u="none" cap="none" strike="noStrike"/>
          </a:p>
        </p:txBody>
      </p:sp>
      <p:pic>
        <p:nvPicPr>
          <p:cNvPr descr="preencoded.png" id="200" name="Google Shape;20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416950" y="1226190"/>
            <a:ext cx="7477199" cy="7003409"/>
          </a:xfrm>
          <a:prstGeom prst="rect">
            <a:avLst/>
          </a:prstGeom>
          <a:noFill/>
          <a:ln>
            <a:noFill/>
          </a:ln>
        </p:spPr>
      </p:pic>
      <p:pic>
        <p:nvPicPr>
          <p:cNvPr id="201" name="Google Shape;201;p2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2411086" y="7705725"/>
            <a:ext cx="2219325" cy="523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22"/>
          <p:cNvSpPr/>
          <p:nvPr/>
        </p:nvSpPr>
        <p:spPr>
          <a:xfrm>
            <a:off x="581500" y="456850"/>
            <a:ext cx="6301500" cy="51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4615"/>
              </a:lnSpc>
              <a:spcBef>
                <a:spcPts val="0"/>
              </a:spcBef>
              <a:spcAft>
                <a:spcPts val="0"/>
              </a:spcAft>
              <a:buClr>
                <a:srgbClr val="233939"/>
              </a:buClr>
              <a:buSzPts val="3250"/>
              <a:buFont typeface="Syne"/>
              <a:buNone/>
            </a:pPr>
            <a:r>
              <a:rPr b="1" i="0" lang="en-US" sz="4000" u="none" cap="none" strike="noStrike">
                <a:solidFill>
                  <a:srgbClr val="233939"/>
                </a:solidFill>
              </a:rPr>
              <a:t>Database Diagram</a:t>
            </a:r>
            <a:endParaRPr i="0" sz="4000" u="none" cap="none" strike="noStrike"/>
          </a:p>
        </p:txBody>
      </p:sp>
      <p:pic>
        <p:nvPicPr>
          <p:cNvPr descr="preencoded.png" id="208" name="Google Shape;208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82441" y="1308378"/>
            <a:ext cx="9865400" cy="6539984"/>
          </a:xfrm>
          <a:prstGeom prst="rect">
            <a:avLst/>
          </a:prstGeom>
          <a:noFill/>
          <a:ln>
            <a:noFill/>
          </a:ln>
        </p:spPr>
      </p:pic>
      <p:pic>
        <p:nvPicPr>
          <p:cNvPr id="209" name="Google Shape;209;p2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2552641" y="7739150"/>
            <a:ext cx="2077759" cy="49045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23"/>
          <p:cNvSpPr/>
          <p:nvPr/>
        </p:nvSpPr>
        <p:spPr>
          <a:xfrm>
            <a:off x="793890" y="635211"/>
            <a:ext cx="6207300" cy="70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4719"/>
              </a:lnSpc>
              <a:spcBef>
                <a:spcPts val="0"/>
              </a:spcBef>
              <a:spcAft>
                <a:spcPts val="0"/>
              </a:spcAft>
              <a:buClr>
                <a:srgbClr val="233939"/>
              </a:buClr>
              <a:buSzPts val="4450"/>
              <a:buFont typeface="Syne"/>
              <a:buNone/>
            </a:pPr>
            <a:r>
              <a:rPr b="1" i="0" lang="en-US" sz="4000" u="none" cap="none" strike="noStrike">
                <a:solidFill>
                  <a:srgbClr val="233939"/>
                </a:solidFill>
              </a:rPr>
              <a:t>UML Class Diagram</a:t>
            </a:r>
            <a:endParaRPr i="0" sz="4000" u="none" cap="none" strike="noStrike"/>
          </a:p>
        </p:txBody>
      </p:sp>
      <p:pic>
        <p:nvPicPr>
          <p:cNvPr descr="preencoded.png" id="216" name="Google Shape;216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88250" y="1810100"/>
            <a:ext cx="14253898" cy="5678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7" name="Google Shape;217;p2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2411063" y="7705725"/>
            <a:ext cx="2219325" cy="523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8" name="Google Shape;218;p2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865287" y="335175"/>
            <a:ext cx="11744123" cy="7959399"/>
          </a:xfrm>
          <a:prstGeom prst="rect">
            <a:avLst/>
          </a:prstGeom>
          <a:noFill/>
          <a:ln>
            <a:noFill/>
          </a:ln>
        </p:spPr>
      </p:pic>
      <p:pic>
        <p:nvPicPr>
          <p:cNvPr id="219" name="Google Shape;219;p23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912313" y="1149850"/>
            <a:ext cx="8805771" cy="608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600"/>
                                        <p:tgtEl>
                                          <p:spTgt spid="2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600"/>
                                        <p:tgtEl>
                                          <p:spTgt spid="2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3" presetSubtype="32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400"/>
                                        <p:tgtEl>
                                          <p:spTgt spid="2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w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400"/>
                                        <p:tgtEl>
                                          <p:spTgt spid="2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h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0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400"/>
                                          </p:stCondLst>
                                        </p:cTn>
                                        <p:tgtEl>
                                          <p:spTgt spid="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400"/>
                            </p:stCondLst>
                            <p:childTnLst>
                              <p:par>
                                <p:cTn fill="hold" nodeType="after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4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4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" name="Google Shape;225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34575" y="3973826"/>
            <a:ext cx="930200" cy="930200"/>
          </a:xfrm>
          <a:prstGeom prst="rect">
            <a:avLst/>
          </a:prstGeom>
          <a:noFill/>
          <a:ln>
            <a:noFill/>
          </a:ln>
        </p:spPr>
      </p:pic>
      <p:sp>
        <p:nvSpPr>
          <p:cNvPr id="226" name="Google Shape;226;p24"/>
          <p:cNvSpPr/>
          <p:nvPr/>
        </p:nvSpPr>
        <p:spPr>
          <a:xfrm>
            <a:off x="772140" y="668427"/>
            <a:ext cx="6411900" cy="70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4719"/>
              </a:lnSpc>
              <a:spcBef>
                <a:spcPts val="0"/>
              </a:spcBef>
              <a:spcAft>
                <a:spcPts val="0"/>
              </a:spcAft>
              <a:buClr>
                <a:srgbClr val="233939"/>
              </a:buClr>
              <a:buSzPts val="4450"/>
              <a:buFont typeface="Syne"/>
              <a:buNone/>
            </a:pPr>
            <a:r>
              <a:rPr b="1" i="0" lang="en-US" sz="4000" u="none" cap="none" strike="noStrike">
                <a:solidFill>
                  <a:srgbClr val="233939"/>
                </a:solidFill>
              </a:rPr>
              <a:t>Development stages</a:t>
            </a:r>
            <a:endParaRPr i="0" sz="4000" u="none" cap="none" strike="noStrike"/>
          </a:p>
        </p:txBody>
      </p:sp>
      <p:pic>
        <p:nvPicPr>
          <p:cNvPr id="227" name="Google Shape;227;p2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2227075" y="7207848"/>
            <a:ext cx="2219325" cy="523875"/>
          </a:xfrm>
          <a:prstGeom prst="rect">
            <a:avLst/>
          </a:prstGeom>
          <a:noFill/>
          <a:ln>
            <a:noFill/>
          </a:ln>
        </p:spPr>
      </p:pic>
      <p:sp>
        <p:nvSpPr>
          <p:cNvPr id="228" name="Google Shape;228;p24"/>
          <p:cNvSpPr/>
          <p:nvPr/>
        </p:nvSpPr>
        <p:spPr>
          <a:xfrm>
            <a:off x="12494298" y="7598422"/>
            <a:ext cx="2136100" cy="571351"/>
          </a:xfrm>
          <a:custGeom>
            <a:rect b="b" l="l" r="r" t="t"/>
            <a:pathLst>
              <a:path extrusionOk="0" h="654844" w="2774156">
                <a:moveTo>
                  <a:pt x="0" y="0"/>
                </a:moveTo>
                <a:lnTo>
                  <a:pt x="2774156" y="0"/>
                </a:lnTo>
                <a:lnTo>
                  <a:pt x="2774156" y="654843"/>
                </a:lnTo>
                <a:lnTo>
                  <a:pt x="0" y="65484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229" name="Google Shape;229;p24"/>
          <p:cNvGrpSpPr/>
          <p:nvPr/>
        </p:nvGrpSpPr>
        <p:grpSpPr>
          <a:xfrm>
            <a:off x="576113" y="2506925"/>
            <a:ext cx="1847100" cy="1886034"/>
            <a:chOff x="576113" y="2506925"/>
            <a:chExt cx="1847100" cy="1886034"/>
          </a:xfrm>
        </p:grpSpPr>
        <p:sp>
          <p:nvSpPr>
            <p:cNvPr id="230" name="Google Shape;230;p24"/>
            <p:cNvSpPr/>
            <p:nvPr/>
          </p:nvSpPr>
          <p:spPr>
            <a:xfrm>
              <a:off x="836528" y="2506925"/>
              <a:ext cx="1456137" cy="1482786"/>
            </a:xfrm>
            <a:custGeom>
              <a:rect b="b" l="l" r="r" t="t"/>
              <a:pathLst>
                <a:path extrusionOk="0" h="2020695" w="2390637">
                  <a:moveTo>
                    <a:pt x="0" y="0"/>
                  </a:moveTo>
                  <a:lnTo>
                    <a:pt x="2390638" y="0"/>
                  </a:lnTo>
                  <a:lnTo>
                    <a:pt x="2390638" y="2020695"/>
                  </a:lnTo>
                  <a:lnTo>
                    <a:pt x="0" y="2020695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6">
                <a:alphaModFix/>
              </a:blip>
              <a:stretch>
                <a:fillRect b="0" l="0" r="0" t="0"/>
              </a:stretch>
            </a:blipFill>
            <a:ln>
              <a:noFill/>
            </a:ln>
          </p:spPr>
        </p:sp>
        <p:sp>
          <p:nvSpPr>
            <p:cNvPr id="231" name="Google Shape;231;p24"/>
            <p:cNvSpPr txBox="1"/>
            <p:nvPr/>
          </p:nvSpPr>
          <p:spPr>
            <a:xfrm>
              <a:off x="576113" y="4069860"/>
              <a:ext cx="1847100" cy="323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9499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2100" u="none" cap="none" strike="noStrike">
                  <a:solidFill>
                    <a:srgbClr val="000000"/>
                  </a:solidFill>
                  <a:latin typeface="Overpass Light"/>
                  <a:ea typeface="Overpass Light"/>
                  <a:cs typeface="Overpass Light"/>
                  <a:sym typeface="Overpass Light"/>
                </a:rPr>
                <a:t>Presentation</a:t>
              </a:r>
              <a:endParaRPr sz="2100"/>
            </a:p>
          </p:txBody>
        </p:sp>
      </p:grpSp>
      <p:grpSp>
        <p:nvGrpSpPr>
          <p:cNvPr id="232" name="Google Shape;232;p24"/>
          <p:cNvGrpSpPr/>
          <p:nvPr/>
        </p:nvGrpSpPr>
        <p:grpSpPr>
          <a:xfrm>
            <a:off x="3708527" y="5358443"/>
            <a:ext cx="2009709" cy="2172508"/>
            <a:chOff x="3708527" y="5358443"/>
            <a:chExt cx="2009709" cy="2172508"/>
          </a:xfrm>
        </p:grpSpPr>
        <p:sp>
          <p:nvSpPr>
            <p:cNvPr id="233" name="Google Shape;233;p24"/>
            <p:cNvSpPr/>
            <p:nvPr/>
          </p:nvSpPr>
          <p:spPr>
            <a:xfrm>
              <a:off x="3708527" y="5358443"/>
              <a:ext cx="2009709" cy="1755336"/>
            </a:xfrm>
            <a:custGeom>
              <a:rect b="b" l="l" r="r" t="t"/>
              <a:pathLst>
                <a:path extrusionOk="0" h="2392118" w="3299473">
                  <a:moveTo>
                    <a:pt x="0" y="0"/>
                  </a:moveTo>
                  <a:lnTo>
                    <a:pt x="3299473" y="0"/>
                  </a:lnTo>
                  <a:lnTo>
                    <a:pt x="3299473" y="2392118"/>
                  </a:lnTo>
                  <a:lnTo>
                    <a:pt x="0" y="2392118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7">
                <a:alphaModFix/>
              </a:blip>
              <a:stretch>
                <a:fillRect b="0" l="0" r="0" t="0"/>
              </a:stretch>
            </a:blipFill>
            <a:ln>
              <a:noFill/>
            </a:ln>
          </p:spPr>
        </p:sp>
        <p:sp>
          <p:nvSpPr>
            <p:cNvPr id="234" name="Google Shape;234;p24"/>
            <p:cNvSpPr txBox="1"/>
            <p:nvPr/>
          </p:nvSpPr>
          <p:spPr>
            <a:xfrm>
              <a:off x="3789860" y="7207851"/>
              <a:ext cx="1847100" cy="323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9499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2100" u="none" cap="none" strike="noStrike">
                  <a:solidFill>
                    <a:srgbClr val="000000"/>
                  </a:solidFill>
                  <a:latin typeface="Overpass Light"/>
                  <a:ea typeface="Overpass Light"/>
                  <a:cs typeface="Overpass Light"/>
                  <a:sym typeface="Overpass Light"/>
                </a:rPr>
                <a:t>Coding</a:t>
              </a:r>
              <a:endParaRPr sz="2100"/>
            </a:p>
          </p:txBody>
        </p:sp>
      </p:grpSp>
      <p:grpSp>
        <p:nvGrpSpPr>
          <p:cNvPr id="235" name="Google Shape;235;p24"/>
          <p:cNvGrpSpPr/>
          <p:nvPr/>
        </p:nvGrpSpPr>
        <p:grpSpPr>
          <a:xfrm>
            <a:off x="8207183" y="2506925"/>
            <a:ext cx="1847100" cy="2646292"/>
            <a:chOff x="12142308" y="3583738"/>
            <a:chExt cx="1847100" cy="2646292"/>
          </a:xfrm>
        </p:grpSpPr>
        <p:sp>
          <p:nvSpPr>
            <p:cNvPr id="236" name="Google Shape;236;p24"/>
            <p:cNvSpPr/>
            <p:nvPr/>
          </p:nvSpPr>
          <p:spPr>
            <a:xfrm>
              <a:off x="12245022" y="3583738"/>
              <a:ext cx="1641640" cy="2247421"/>
            </a:xfrm>
            <a:custGeom>
              <a:rect b="b" l="l" r="r" t="t"/>
              <a:pathLst>
                <a:path extrusionOk="0" h="3062716" w="2695190">
                  <a:moveTo>
                    <a:pt x="0" y="0"/>
                  </a:moveTo>
                  <a:lnTo>
                    <a:pt x="2695190" y="0"/>
                  </a:lnTo>
                  <a:lnTo>
                    <a:pt x="2695190" y="3062716"/>
                  </a:lnTo>
                  <a:lnTo>
                    <a:pt x="0" y="3062716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8">
                <a:alphaModFix/>
              </a:blip>
              <a:stretch>
                <a:fillRect b="0" l="0" r="0" t="0"/>
              </a:stretch>
            </a:blipFill>
            <a:ln>
              <a:noFill/>
            </a:ln>
          </p:spPr>
        </p:sp>
        <p:sp>
          <p:nvSpPr>
            <p:cNvPr id="237" name="Google Shape;237;p24"/>
            <p:cNvSpPr txBox="1"/>
            <p:nvPr/>
          </p:nvSpPr>
          <p:spPr>
            <a:xfrm>
              <a:off x="12142308" y="5906930"/>
              <a:ext cx="1847100" cy="323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9499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2100" u="none" cap="none" strike="noStrike">
                  <a:solidFill>
                    <a:srgbClr val="000000"/>
                  </a:solidFill>
                  <a:latin typeface="Overpass Light"/>
                  <a:ea typeface="Overpass Light"/>
                  <a:cs typeface="Overpass Light"/>
                  <a:sym typeface="Overpass Light"/>
                </a:rPr>
                <a:t>Test the app</a:t>
              </a:r>
              <a:endParaRPr sz="2100"/>
            </a:p>
          </p:txBody>
        </p:sp>
      </p:grpSp>
      <p:grpSp>
        <p:nvGrpSpPr>
          <p:cNvPr id="238" name="Google Shape;238;p24"/>
          <p:cNvGrpSpPr/>
          <p:nvPr/>
        </p:nvGrpSpPr>
        <p:grpSpPr>
          <a:xfrm>
            <a:off x="12392311" y="3994125"/>
            <a:ext cx="1847100" cy="2408551"/>
            <a:chOff x="8125061" y="2506925"/>
            <a:chExt cx="1847100" cy="2408551"/>
          </a:xfrm>
        </p:grpSpPr>
        <p:sp>
          <p:nvSpPr>
            <p:cNvPr id="239" name="Google Shape;239;p24"/>
            <p:cNvSpPr/>
            <p:nvPr/>
          </p:nvSpPr>
          <p:spPr>
            <a:xfrm>
              <a:off x="8183043" y="2506925"/>
              <a:ext cx="1731055" cy="2085451"/>
            </a:xfrm>
            <a:custGeom>
              <a:rect b="b" l="l" r="r" t="t"/>
              <a:pathLst>
                <a:path extrusionOk="0" h="2841988" w="2841988">
                  <a:moveTo>
                    <a:pt x="0" y="0"/>
                  </a:moveTo>
                  <a:lnTo>
                    <a:pt x="2841988" y="0"/>
                  </a:lnTo>
                  <a:lnTo>
                    <a:pt x="2841988" y="2841988"/>
                  </a:lnTo>
                  <a:lnTo>
                    <a:pt x="0" y="2841988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9">
                <a:alphaModFix/>
              </a:blip>
              <a:stretch>
                <a:fillRect b="0" l="0" r="0" t="0"/>
              </a:stretch>
            </a:blipFill>
            <a:ln>
              <a:noFill/>
            </a:ln>
          </p:spPr>
        </p:sp>
        <p:sp>
          <p:nvSpPr>
            <p:cNvPr id="240" name="Google Shape;240;p24"/>
            <p:cNvSpPr txBox="1"/>
            <p:nvPr/>
          </p:nvSpPr>
          <p:spPr>
            <a:xfrm>
              <a:off x="8125061" y="4592377"/>
              <a:ext cx="1847100" cy="323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9499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2100" u="none" cap="none" strike="noStrike">
                  <a:solidFill>
                    <a:srgbClr val="000000"/>
                  </a:solidFill>
                  <a:latin typeface="Overpass Light"/>
                  <a:ea typeface="Overpass Light"/>
                  <a:cs typeface="Overpass Light"/>
                  <a:sym typeface="Overpass Light"/>
                </a:rPr>
                <a:t>Deployment</a:t>
              </a:r>
              <a:endParaRPr sz="2100"/>
            </a:p>
          </p:txBody>
        </p:sp>
      </p:grpSp>
      <p:cxnSp>
        <p:nvCxnSpPr>
          <p:cNvPr id="241" name="Google Shape;241;p24"/>
          <p:cNvCxnSpPr/>
          <p:nvPr/>
        </p:nvCxnSpPr>
        <p:spPr>
          <a:xfrm>
            <a:off x="2488097" y="4123193"/>
            <a:ext cx="1039500" cy="2150400"/>
          </a:xfrm>
          <a:prstGeom prst="bentConnector3">
            <a:avLst>
              <a:gd fmla="val 50000" name="adj1"/>
            </a:avLst>
          </a:prstGeom>
          <a:noFill/>
          <a:ln cap="flat" cmpd="sng" w="38100">
            <a:solidFill>
              <a:schemeClr val="dk1"/>
            </a:solidFill>
            <a:prstDash val="solid"/>
            <a:round/>
            <a:headEnd len="med" w="med" type="none"/>
            <a:tailEnd len="med" w="med" type="stealth"/>
          </a:ln>
        </p:spPr>
      </p:cxnSp>
      <p:cxnSp>
        <p:nvCxnSpPr>
          <p:cNvPr id="242" name="Google Shape;242;p24"/>
          <p:cNvCxnSpPr/>
          <p:nvPr/>
        </p:nvCxnSpPr>
        <p:spPr>
          <a:xfrm flipH="1" rot="10800000">
            <a:off x="5724725" y="3751675"/>
            <a:ext cx="2619300" cy="2586900"/>
          </a:xfrm>
          <a:prstGeom prst="bentConnector3">
            <a:avLst>
              <a:gd fmla="val 50000" name="adj1"/>
            </a:avLst>
          </a:prstGeom>
          <a:noFill/>
          <a:ln cap="flat" cmpd="sng" w="38100">
            <a:solidFill>
              <a:schemeClr val="dk1"/>
            </a:solidFill>
            <a:prstDash val="solid"/>
            <a:round/>
            <a:headEnd len="med" w="med" type="none"/>
            <a:tailEnd len="med" w="med" type="stealth"/>
          </a:ln>
        </p:spPr>
      </p:cxnSp>
      <p:cxnSp>
        <p:nvCxnSpPr>
          <p:cNvPr id="243" name="Google Shape;243;p24"/>
          <p:cNvCxnSpPr/>
          <p:nvPr/>
        </p:nvCxnSpPr>
        <p:spPr>
          <a:xfrm>
            <a:off x="10043350" y="3665075"/>
            <a:ext cx="2348700" cy="1547700"/>
          </a:xfrm>
          <a:prstGeom prst="bentConnector3">
            <a:avLst>
              <a:gd fmla="val 50000" name="adj1"/>
            </a:avLst>
          </a:prstGeom>
          <a:noFill/>
          <a:ln cap="flat" cmpd="sng" w="38100">
            <a:solidFill>
              <a:schemeClr val="dk1"/>
            </a:solidFill>
            <a:prstDash val="solid"/>
            <a:round/>
            <a:headEnd len="med" w="med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